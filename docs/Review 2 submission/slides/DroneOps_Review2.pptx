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DroneOps Intelligence supports mission planning, pre-flight validation, live monitoring, incident handling, post-flight reports and advisory AI. This review presents the system and database design, package responsibilities, state transitions and the main workflow demonstrations.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browser communicates with the Next.js server and ASP.NET Core API. Application services enforce authorization and business rules, PostgreSQL stores operational records, and backend adapters handle private media, email and AI. The telemetry gateway supplies normalized MAVLink-derived samples; SSE provides authorized live updates.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API layer exposes controllers and configures dependencies. Application contains business services and DTOs. Persistence provides repositories, EF Core and Npgsql access. Domain defines operational entities. Frontend route components use shared clients and the API proxy.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 Mission record contains the current plan. A separate update request stores changes awaiting review. Validation and reviewer decisions identify the exact request. Approval applies the complete accepted content atomically to the same mission; rejection preserves the current content.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mission and pending update have separate states. An Approved mission remains Approved while an update is pending. If the update is rejected, its existing content and approval remain effective. If accepted, the same mission receives the approved changes.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incident moves from Open to Acknowledged and then Resolved. Acknowledgement records the responsible user and time. Manager resolution requires a reason. State changes do not modify the frozen telemetry 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the Operator saves the proposed changes. The Manager compares them with the current mission and validation findings. Rejecting the request keeps the existing content. Approving a request with current passing evidence applies its changes and records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gateway supplies timestamped telemetry. The platform persists samples and publishes current state. Rules and an independent timer detect abnormal episodes and communication loss. Incidents retain frozen evidence, while acknowledgement, resolution and alerts provide a traceable handling process.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Post-flight reports use persisted telemetry and incidents, with coverage and missing metrics shown explicitly. AI assessments retain their mission context, provider and time. AI advice cannot approve a mission. The registered similarity-retrieval scope remains a review question recorded separately from the unchanged registration form.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test design includes 40 integration/system cases and 10 unit designs. The priorities are rejection preservation, atomic approval and rollback, scope enforcement, route validation, telemetry ordering and communication-loss timing. These planned cases require execution records before results can be reported.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workflow demonstration follows five steps: create and submit a mission, reject an update while preserving approved content, approve an update to the same mission, inspect monitoring and incident evidence, and review the post-flight report and AI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steps are to agree the review rules and spatial constraints, complete the integration boundaries, execute the test plan, and review database migrations and deployment settings.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47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0972800" cy="320040"/>
          </a:xfrm>
          <a:prstGeom prst="rect">
            <a:avLst/>
          </a:prstGeom>
          <a:noFill/>
        </p:spPr>
        <p:txBody>
          <a:bodyPr wrap="square" lIns="27432" rIns="27432" tIns="18288" bIns="18288">
            <a:spAutoFit/>
          </a:bodyPr>
          <a:lstStyle/>
          <a:p>
            <a:pPr>
              <a:spcAft>
                <a:spcPts val="1200"/>
              </a:spcAft>
              <a:defRPr sz="1100" b="1">
                <a:solidFill>
                  <a:srgbClr val="247C9C"/>
                </a:solidFill>
                <a:latin typeface="Arial"/>
              </a:defRPr>
            </a:pPr>
            <a:r>
              <a:t>SYSTEM &amp; DESIGN REVIEW</a:t>
            </a:r>
          </a:p>
        </p:txBody>
      </p:sp>
      <p:sp>
        <p:nvSpPr>
          <p:cNvPr id="4" name="TextBox 3"/>
          <p:cNvSpPr txBox="1"/>
          <p:nvPr/>
        </p:nvSpPr>
        <p:spPr>
          <a:xfrm>
            <a:off x="411480" y="713232"/>
            <a:ext cx="11247120" cy="640080"/>
          </a:xfrm>
          <a:prstGeom prst="rect">
            <a:avLst/>
          </a:prstGeom>
          <a:noFill/>
        </p:spPr>
        <p:txBody>
          <a:bodyPr wrap="square" lIns="27432" rIns="27432" tIns="18288" bIns="18288">
            <a:spAutoFit/>
          </a:bodyPr>
          <a:lstStyle/>
          <a:p>
            <a:pPr>
              <a:spcAft>
                <a:spcPts val="1200"/>
              </a:spcAft>
              <a:defRPr sz="2800" b="1">
                <a:solidFill>
                  <a:srgbClr val="1D3349"/>
                </a:solidFill>
                <a:latin typeface="Arial"/>
              </a:defRPr>
            </a:pPr>
            <a:r>
              <a:t>DroneOps Intelligence</a:t>
            </a:r>
          </a:p>
        </p:txBody>
      </p:sp>
      <p:sp>
        <p:nvSpPr>
          <p:cNvPr id="5" name="TextBox 4"/>
          <p:cNvSpPr txBox="1"/>
          <p:nvPr/>
        </p:nvSpPr>
        <p:spPr>
          <a:xfrm>
            <a:off x="411480" y="6519672"/>
            <a:ext cx="10058400" cy="182880"/>
          </a:xfrm>
          <a:prstGeom prst="rect">
            <a:avLst/>
          </a:prstGeom>
          <a:noFill/>
        </p:spPr>
        <p:txBody>
          <a:bodyPr wrap="square" lIns="27432" rIns="27432" tIns="18288" bIns="18288">
            <a:spAutoFit/>
          </a:bodyPr>
          <a:lstStyle/>
          <a:p>
            <a:pPr>
              <a:spcAft>
                <a:spcPts val="1200"/>
              </a:spcAft>
              <a:defRPr sz="900" b="0">
                <a:solidFill>
                  <a:srgbClr val="5B6B7B"/>
                </a:solidFill>
                <a:latin typeface="Arial"/>
              </a:defRPr>
            </a:pPr>
            <a:r>
              <a:t>DroneOps Intelligence · FA26SE238 | Review 2 draft · 19 Oct 2026</a:t>
            </a:r>
          </a:p>
        </p:txBody>
      </p:sp>
      <p:sp>
        <p:nvSpPr>
          <p:cNvPr id="6" name="TextBox 5"/>
          <p:cNvSpPr txBox="1"/>
          <p:nvPr/>
        </p:nvSpPr>
        <p:spPr>
          <a:xfrm>
            <a:off x="11155680" y="6492240"/>
            <a:ext cx="548640" cy="228600"/>
          </a:xfrm>
          <a:prstGeom prst="rect">
            <a:avLst/>
          </a:prstGeom>
          <a:noFill/>
        </p:spPr>
        <p:txBody>
          <a:bodyPr wrap="square" lIns="27432" rIns="27432" tIns="18288" bIns="18288">
            <a:spAutoFit/>
          </a:bodyPr>
          <a:lstStyle/>
          <a:p>
            <a:pPr>
              <a:spcAft>
                <a:spcPts val="1200"/>
              </a:spcAft>
              <a:defRPr sz="1000" b="0">
                <a:solidFill>
                  <a:srgbClr val="5B6B7B"/>
                </a:solidFill>
                <a:latin typeface="Arial"/>
              </a:defRPr>
            </a:pPr>
            <a:r>
              <a:t>01</a:t>
            </a:r>
          </a:p>
        </p:txBody>
      </p:sp>
      <p:sp>
        <p:nvSpPr>
          <p:cNvPr id="7" name="TextBox 6"/>
          <p:cNvSpPr txBox="1"/>
          <p:nvPr/>
        </p:nvSpPr>
        <p:spPr>
          <a:xfrm>
            <a:off x="594360" y="1874519"/>
            <a:ext cx="10789920" cy="1463040"/>
          </a:xfrm>
          <a:prstGeom prst="rect">
            <a:avLst/>
          </a:prstGeom>
          <a:noFill/>
        </p:spPr>
        <p:txBody>
          <a:bodyPr wrap="square" lIns="27432" rIns="27432" tIns="18288" bIns="18288">
            <a:spAutoFit/>
          </a:bodyPr>
          <a:lstStyle/>
          <a:p>
            <a:pPr>
              <a:spcAft>
                <a:spcPts val="1200"/>
              </a:spcAft>
              <a:defRPr sz="3100" b="1">
                <a:solidFill>
                  <a:srgbClr val="1D3349"/>
                </a:solidFill>
                <a:latin typeface="Arial"/>
              </a:defRPr>
            </a:pPr>
            <a:r>
              <a:t>Mission planning · live monitoring</a:t>
            </a:r>
          </a:p>
          <a:p>
            <a:pPr>
              <a:spcAft>
                <a:spcPts val="1200"/>
              </a:spcAft>
              <a:defRPr sz="3100" b="1">
                <a:solidFill>
                  <a:srgbClr val="1D3349"/>
                </a:solidFill>
                <a:latin typeface="Arial"/>
              </a:defRPr>
            </a:pPr>
            <a:r>
              <a:t>incident analytics · advisory AI</a:t>
            </a:r>
          </a:p>
        </p:txBody>
      </p:sp>
      <p:sp>
        <p:nvSpPr>
          <p:cNvPr id="8" name="TextBox 7"/>
          <p:cNvSpPr txBox="1"/>
          <p:nvPr/>
        </p:nvSpPr>
        <p:spPr>
          <a:xfrm>
            <a:off x="594360" y="3767328"/>
            <a:ext cx="10789920" cy="548640"/>
          </a:xfrm>
          <a:prstGeom prst="rect">
            <a:avLst/>
          </a:prstGeom>
          <a:noFill/>
        </p:spPr>
        <p:txBody>
          <a:bodyPr wrap="square" lIns="27432" rIns="27432" tIns="18288" bIns="18288">
            <a:spAutoFit/>
          </a:bodyPr>
          <a:lstStyle/>
          <a:p>
            <a:pPr>
              <a:spcAft>
                <a:spcPts val="1200"/>
              </a:spcAft>
              <a:defRPr sz="2200" b="0">
                <a:solidFill>
                  <a:srgbClr val="247C9C"/>
                </a:solidFill>
                <a:latin typeface="Arial"/>
              </a:defRPr>
            </a:pPr>
            <a:r>
              <a:t>Design → database → packages → states → demo workflows</a:t>
            </a:r>
          </a:p>
        </p:txBody>
      </p:sp>
      <p:sp>
        <p:nvSpPr>
          <p:cNvPr id="9" name="TextBox 8"/>
          <p:cNvSpPr txBox="1"/>
          <p:nvPr/>
        </p:nvSpPr>
        <p:spPr>
          <a:xfrm>
            <a:off x="594360" y="4892040"/>
            <a:ext cx="10789920" cy="822960"/>
          </a:xfrm>
          <a:prstGeom prst="rect">
            <a:avLst/>
          </a:prstGeom>
          <a:noFill/>
        </p:spPr>
        <p:txBody>
          <a:bodyPr wrap="square" lIns="27432" rIns="27432" tIns="18288" bIns="18288">
            <a:spAutoFit/>
          </a:bodyPr>
          <a:lstStyle/>
          <a:p>
            <a:pPr>
              <a:spcAft>
                <a:spcPts val="1200"/>
              </a:spcAft>
              <a:defRPr sz="2000" b="0">
                <a:solidFill>
                  <a:srgbClr val="1D3349"/>
                </a:solidFill>
                <a:latin typeface="Arial"/>
              </a:defRPr>
            </a:pPr>
            <a:r>
              <a:t>Lê Quốc Thống · Giang Nguyễn Gia Khánh</a:t>
            </a:r>
          </a:p>
          <a:p>
            <a:pPr>
              <a:spcAft>
                <a:spcPts val="1200"/>
              </a:spcAft>
              <a:defRPr sz="2000" b="0">
                <a:solidFill>
                  <a:srgbClr val="1D3349"/>
                </a:solidFill>
                <a:latin typeface="Arial"/>
              </a:defRPr>
            </a:pPr>
            <a:r>
              <a:t>Hà Quang Nghĩa · Đặng Đào Anh Đức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47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0972800" cy="320040"/>
          </a:xfrm>
          <a:prstGeom prst="rect">
            <a:avLst/>
          </a:prstGeom>
          <a:noFill/>
        </p:spPr>
        <p:txBody>
          <a:bodyPr wrap="square" lIns="27432" rIns="27432" tIns="18288" bIns="18288">
            <a:spAutoFit/>
          </a:bodyPr>
          <a:lstStyle/>
          <a:p>
            <a:pPr>
              <a:spcAft>
                <a:spcPts val="1200"/>
              </a:spcAft>
              <a:defRPr sz="1100" b="1">
                <a:solidFill>
                  <a:srgbClr val="247C9C"/>
                </a:solidFill>
                <a:latin typeface="Arial"/>
              </a:defRPr>
            </a:pPr>
            <a:r>
              <a:t>ARCHITECTURE</a:t>
            </a:r>
          </a:p>
        </p:txBody>
      </p:sp>
      <p:sp>
        <p:nvSpPr>
          <p:cNvPr id="4" name="TextBox 3"/>
          <p:cNvSpPr txBox="1"/>
          <p:nvPr/>
        </p:nvSpPr>
        <p:spPr>
          <a:xfrm>
            <a:off x="411480" y="713232"/>
            <a:ext cx="11247120" cy="640080"/>
          </a:xfrm>
          <a:prstGeom prst="rect">
            <a:avLst/>
          </a:prstGeom>
          <a:noFill/>
        </p:spPr>
        <p:txBody>
          <a:bodyPr wrap="square" lIns="27432" rIns="27432" tIns="18288" bIns="18288">
            <a:spAutoFit/>
          </a:bodyPr>
          <a:lstStyle/>
          <a:p>
            <a:pPr>
              <a:spcAft>
                <a:spcPts val="1200"/>
              </a:spcAft>
              <a:defRPr sz="2800" b="1">
                <a:solidFill>
                  <a:srgbClr val="1D3349"/>
                </a:solidFill>
                <a:latin typeface="Arial"/>
              </a:defRPr>
            </a:pPr>
            <a:r>
              <a:t>System design and integration boundaries</a:t>
            </a:r>
          </a:p>
        </p:txBody>
      </p:sp>
      <p:sp>
        <p:nvSpPr>
          <p:cNvPr id="5" name="TextBox 4"/>
          <p:cNvSpPr txBox="1"/>
          <p:nvPr/>
        </p:nvSpPr>
        <p:spPr>
          <a:xfrm>
            <a:off x="411480" y="6519672"/>
            <a:ext cx="10058400" cy="182880"/>
          </a:xfrm>
          <a:prstGeom prst="rect">
            <a:avLst/>
          </a:prstGeom>
          <a:noFill/>
        </p:spPr>
        <p:txBody>
          <a:bodyPr wrap="square" lIns="27432" rIns="27432" tIns="18288" bIns="18288">
            <a:spAutoFit/>
          </a:bodyPr>
          <a:lstStyle/>
          <a:p>
            <a:pPr>
              <a:spcAft>
                <a:spcPts val="1200"/>
              </a:spcAft>
              <a:defRPr sz="900" b="0">
                <a:solidFill>
                  <a:srgbClr val="5B6B7B"/>
                </a:solidFill>
                <a:latin typeface="Arial"/>
              </a:defRPr>
            </a:pPr>
            <a:r>
              <a:t>DroneOps Intelligence · FA26SE238 | Review 2 draft · 19 Oct 2026</a:t>
            </a:r>
          </a:p>
        </p:txBody>
      </p:sp>
      <p:sp>
        <p:nvSpPr>
          <p:cNvPr id="6" name="TextBox 5"/>
          <p:cNvSpPr txBox="1"/>
          <p:nvPr/>
        </p:nvSpPr>
        <p:spPr>
          <a:xfrm>
            <a:off x="11155680" y="6492240"/>
            <a:ext cx="548640" cy="228600"/>
          </a:xfrm>
          <a:prstGeom prst="rect">
            <a:avLst/>
          </a:prstGeom>
          <a:noFill/>
        </p:spPr>
        <p:txBody>
          <a:bodyPr wrap="square" lIns="27432" rIns="27432" tIns="18288" bIns="18288">
            <a:spAutoFit/>
          </a:bodyPr>
          <a:lstStyle/>
          <a:p>
            <a:pPr>
              <a:spcAft>
                <a:spcPts val="1200"/>
              </a:spcAft>
              <a:defRPr sz="1000" b="0">
                <a:solidFill>
                  <a:srgbClr val="5B6B7B"/>
                </a:solidFill>
                <a:latin typeface="Arial"/>
              </a:defRPr>
            </a:pPr>
            <a:r>
              <a:t>02</a:t>
            </a:r>
          </a:p>
        </p:txBody>
      </p:sp>
      <p:pic>
        <p:nvPicPr>
          <p:cNvPr id="7" name="Picture 6" descr="system-architecture.png"/>
          <p:cNvPicPr>
            <a:picLocks noChangeAspect="1"/>
          </p:cNvPicPr>
          <p:nvPr/>
        </p:nvPicPr>
        <p:blipFill>
          <a:blip r:embed="rId3"/>
          <a:stretch>
            <a:fillRect/>
          </a:stretch>
        </p:blipFill>
        <p:spPr>
          <a:xfrm>
            <a:off x="2254982" y="1508760"/>
            <a:ext cx="7651554" cy="47091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47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0972800" cy="320040"/>
          </a:xfrm>
          <a:prstGeom prst="rect">
            <a:avLst/>
          </a:prstGeom>
          <a:noFill/>
        </p:spPr>
        <p:txBody>
          <a:bodyPr wrap="square" lIns="27432" rIns="27432" tIns="18288" bIns="18288">
            <a:spAutoFit/>
          </a:bodyPr>
          <a:lstStyle/>
          <a:p>
            <a:pPr>
              <a:spcAft>
                <a:spcPts val="1200"/>
              </a:spcAft>
              <a:defRPr sz="1100" b="1">
                <a:solidFill>
                  <a:srgbClr val="247C9C"/>
                </a:solidFill>
                <a:latin typeface="Arial"/>
              </a:defRPr>
            </a:pPr>
            <a:r>
              <a:t>PACKAGES</a:t>
            </a:r>
          </a:p>
        </p:txBody>
      </p:sp>
      <p:sp>
        <p:nvSpPr>
          <p:cNvPr id="4" name="TextBox 3"/>
          <p:cNvSpPr txBox="1"/>
          <p:nvPr/>
        </p:nvSpPr>
        <p:spPr>
          <a:xfrm>
            <a:off x="411480" y="713232"/>
            <a:ext cx="11247120" cy="640080"/>
          </a:xfrm>
          <a:prstGeom prst="rect">
            <a:avLst/>
          </a:prstGeom>
          <a:noFill/>
        </p:spPr>
        <p:txBody>
          <a:bodyPr wrap="square" lIns="27432" rIns="27432" tIns="18288" bIns="18288">
            <a:spAutoFit/>
          </a:bodyPr>
          <a:lstStyle/>
          <a:p>
            <a:pPr>
              <a:spcAft>
                <a:spcPts val="1200"/>
              </a:spcAft>
              <a:defRPr sz="2800" b="1">
                <a:solidFill>
                  <a:srgbClr val="1D3349"/>
                </a:solidFill>
                <a:latin typeface="Arial"/>
              </a:defRPr>
            </a:pPr>
            <a:r>
              <a:t>Package design follows the actual repository</a:t>
            </a:r>
          </a:p>
        </p:txBody>
      </p:sp>
      <p:sp>
        <p:nvSpPr>
          <p:cNvPr id="5" name="TextBox 4"/>
          <p:cNvSpPr txBox="1"/>
          <p:nvPr/>
        </p:nvSpPr>
        <p:spPr>
          <a:xfrm>
            <a:off x="411480" y="6519672"/>
            <a:ext cx="10058400" cy="182880"/>
          </a:xfrm>
          <a:prstGeom prst="rect">
            <a:avLst/>
          </a:prstGeom>
          <a:noFill/>
        </p:spPr>
        <p:txBody>
          <a:bodyPr wrap="square" lIns="27432" rIns="27432" tIns="18288" bIns="18288">
            <a:spAutoFit/>
          </a:bodyPr>
          <a:lstStyle/>
          <a:p>
            <a:pPr>
              <a:spcAft>
                <a:spcPts val="1200"/>
              </a:spcAft>
              <a:defRPr sz="900" b="0">
                <a:solidFill>
                  <a:srgbClr val="5B6B7B"/>
                </a:solidFill>
                <a:latin typeface="Arial"/>
              </a:defRPr>
            </a:pPr>
            <a:r>
              <a:t>DroneOps Intelligence · FA26SE238 | Review 2 draft · 19 Oct 2026</a:t>
            </a:r>
          </a:p>
        </p:txBody>
      </p:sp>
      <p:sp>
        <p:nvSpPr>
          <p:cNvPr id="6" name="TextBox 5"/>
          <p:cNvSpPr txBox="1"/>
          <p:nvPr/>
        </p:nvSpPr>
        <p:spPr>
          <a:xfrm>
            <a:off x="11155680" y="6492240"/>
            <a:ext cx="548640" cy="228600"/>
          </a:xfrm>
          <a:prstGeom prst="rect">
            <a:avLst/>
          </a:prstGeom>
          <a:noFill/>
        </p:spPr>
        <p:txBody>
          <a:bodyPr wrap="square" lIns="27432" rIns="27432" tIns="18288" bIns="18288">
            <a:spAutoFit/>
          </a:bodyPr>
          <a:lstStyle/>
          <a:p>
            <a:pPr>
              <a:spcAft>
                <a:spcPts val="1200"/>
              </a:spcAft>
              <a:defRPr sz="1000" b="0">
                <a:solidFill>
                  <a:srgbClr val="5B6B7B"/>
                </a:solidFill>
                <a:latin typeface="Arial"/>
              </a:defRPr>
            </a:pPr>
            <a:r>
              <a:t>03</a:t>
            </a:r>
          </a:p>
        </p:txBody>
      </p:sp>
      <p:pic>
        <p:nvPicPr>
          <p:cNvPr id="7" name="Picture 6" descr="backend-packages.png"/>
          <p:cNvPicPr>
            <a:picLocks noChangeAspect="1"/>
          </p:cNvPicPr>
          <p:nvPr/>
        </p:nvPicPr>
        <p:blipFill>
          <a:blip r:embed="rId3"/>
          <a:stretch>
            <a:fillRect/>
          </a:stretch>
        </p:blipFill>
        <p:spPr>
          <a:xfrm>
            <a:off x="615987" y="1463040"/>
            <a:ext cx="8277784" cy="4663439"/>
          </a:xfrm>
          <a:prstGeom prst="rect">
            <a:avLst/>
          </a:prstGeom>
        </p:spPr>
      </p:pic>
      <p:sp>
        <p:nvSpPr>
          <p:cNvPr id="8" name="TextBox 7"/>
          <p:cNvSpPr txBox="1"/>
          <p:nvPr/>
        </p:nvSpPr>
        <p:spPr>
          <a:xfrm>
            <a:off x="9281160" y="1828800"/>
            <a:ext cx="2377440" cy="4114800"/>
          </a:xfrm>
          <a:prstGeom prst="rect">
            <a:avLst/>
          </a:prstGeom>
          <a:noFill/>
        </p:spPr>
        <p:txBody>
          <a:bodyPr wrap="square" lIns="27432" rIns="27432" tIns="18288" bIns="18288">
            <a:spAutoFit/>
          </a:bodyPr>
          <a:lstStyle/>
          <a:p>
            <a:pPr>
              <a:spcAft>
                <a:spcPts val="1200"/>
              </a:spcAft>
              <a:defRPr sz="2000" b="0">
                <a:solidFill>
                  <a:srgbClr val="1D3349"/>
                </a:solidFill>
                <a:latin typeface="Arial"/>
              </a:defRPr>
            </a:pPr>
            <a:r>
              <a:t>Web packages</a:t>
            </a:r>
          </a:p>
          <a:p>
            <a:pPr>
              <a:spcAft>
                <a:spcPts val="1200"/>
              </a:spcAft>
              <a:defRPr sz="2000" b="0">
                <a:solidFill>
                  <a:srgbClr val="1D3349"/>
                </a:solidFill>
                <a:latin typeface="Arial"/>
              </a:defRPr>
            </a:pPr>
          </a:p>
          <a:p>
            <a:pPr>
              <a:spcAft>
                <a:spcPts val="1200"/>
              </a:spcAft>
              <a:defRPr sz="2000" b="0">
                <a:solidFill>
                  <a:srgbClr val="1D3349"/>
                </a:solidFill>
                <a:latin typeface="Arial"/>
              </a:defRPr>
            </a:pPr>
            <a:r>
              <a:t>Portal pages</a:t>
            </a:r>
          </a:p>
          <a:p>
            <a:pPr>
              <a:spcAft>
                <a:spcPts val="1200"/>
              </a:spcAft>
              <a:defRPr sz="2000" b="0">
                <a:solidFill>
                  <a:srgbClr val="1D3349"/>
                </a:solidFill>
                <a:latin typeface="Arial"/>
              </a:defRPr>
            </a:pPr>
            <a:r>
              <a:t>↓</a:t>
            </a:r>
          </a:p>
          <a:p>
            <a:pPr>
              <a:spcAft>
                <a:spcPts val="1200"/>
              </a:spcAft>
              <a:defRPr sz="2000" b="0">
                <a:solidFill>
                  <a:srgbClr val="1D3349"/>
                </a:solidFill>
                <a:latin typeface="Arial"/>
              </a:defRPr>
            </a:pPr>
            <a:r>
              <a:t>Shared clients</a:t>
            </a:r>
          </a:p>
          <a:p>
            <a:pPr>
              <a:spcAft>
                <a:spcPts val="1200"/>
              </a:spcAft>
              <a:defRPr sz="2000" b="0">
                <a:solidFill>
                  <a:srgbClr val="1D3349"/>
                </a:solidFill>
                <a:latin typeface="Arial"/>
              </a:defRPr>
            </a:pPr>
            <a:r>
              <a:t>↓</a:t>
            </a:r>
          </a:p>
          <a:p>
            <a:pPr>
              <a:spcAft>
                <a:spcPts val="1200"/>
              </a:spcAft>
              <a:defRPr sz="2000" b="0">
                <a:solidFill>
                  <a:srgbClr val="1D3349"/>
                </a:solidFill>
                <a:latin typeface="Arial"/>
              </a:defRPr>
            </a:pPr>
            <a:r>
              <a:t>API proxy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47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0972800" cy="320040"/>
          </a:xfrm>
          <a:prstGeom prst="rect">
            <a:avLst/>
          </a:prstGeom>
          <a:noFill/>
        </p:spPr>
        <p:txBody>
          <a:bodyPr wrap="square" lIns="27432" rIns="27432" tIns="18288" bIns="18288">
            <a:spAutoFit/>
          </a:bodyPr>
          <a:lstStyle/>
          <a:p>
            <a:pPr>
              <a:spcAft>
                <a:spcPts val="1200"/>
              </a:spcAft>
              <a:defRPr sz="1100" b="1">
                <a:solidFill>
                  <a:srgbClr val="247C9C"/>
                </a:solidFill>
                <a:latin typeface="Arial"/>
              </a:defRPr>
            </a:pPr>
            <a:r>
              <a:t>DATABASE DESIGN</a:t>
            </a:r>
          </a:p>
        </p:txBody>
      </p:sp>
      <p:sp>
        <p:nvSpPr>
          <p:cNvPr id="4" name="TextBox 3"/>
          <p:cNvSpPr txBox="1"/>
          <p:nvPr/>
        </p:nvSpPr>
        <p:spPr>
          <a:xfrm>
            <a:off x="411480" y="713232"/>
            <a:ext cx="11247120" cy="640080"/>
          </a:xfrm>
          <a:prstGeom prst="rect">
            <a:avLst/>
          </a:prstGeom>
          <a:noFill/>
        </p:spPr>
        <p:txBody>
          <a:bodyPr wrap="square" lIns="27432" rIns="27432" tIns="18288" bIns="18288">
            <a:spAutoFit/>
          </a:bodyPr>
          <a:lstStyle/>
          <a:p>
            <a:pPr>
              <a:spcAft>
                <a:spcPts val="1200"/>
              </a:spcAft>
              <a:defRPr sz="2800" b="1">
                <a:solidFill>
                  <a:srgbClr val="1D3349"/>
                </a:solidFill>
                <a:latin typeface="Arial"/>
              </a:defRPr>
            </a:pPr>
            <a:r>
              <a:t>Database: current content and proposed updates</a:t>
            </a:r>
          </a:p>
        </p:txBody>
      </p:sp>
      <p:sp>
        <p:nvSpPr>
          <p:cNvPr id="5" name="TextBox 4"/>
          <p:cNvSpPr txBox="1"/>
          <p:nvPr/>
        </p:nvSpPr>
        <p:spPr>
          <a:xfrm>
            <a:off x="411480" y="6519672"/>
            <a:ext cx="10058400" cy="182880"/>
          </a:xfrm>
          <a:prstGeom prst="rect">
            <a:avLst/>
          </a:prstGeom>
          <a:noFill/>
        </p:spPr>
        <p:txBody>
          <a:bodyPr wrap="square" lIns="27432" rIns="27432" tIns="18288" bIns="18288">
            <a:spAutoFit/>
          </a:bodyPr>
          <a:lstStyle/>
          <a:p>
            <a:pPr>
              <a:spcAft>
                <a:spcPts val="1200"/>
              </a:spcAft>
              <a:defRPr sz="900" b="0">
                <a:solidFill>
                  <a:srgbClr val="5B6B7B"/>
                </a:solidFill>
                <a:latin typeface="Arial"/>
              </a:defRPr>
            </a:pPr>
            <a:r>
              <a:t>DroneOps Intelligence · FA26SE238 | Review 2 draft · 19 Oct 2026</a:t>
            </a:r>
          </a:p>
        </p:txBody>
      </p:sp>
      <p:sp>
        <p:nvSpPr>
          <p:cNvPr id="6" name="TextBox 5"/>
          <p:cNvSpPr txBox="1"/>
          <p:nvPr/>
        </p:nvSpPr>
        <p:spPr>
          <a:xfrm>
            <a:off x="11155680" y="6492240"/>
            <a:ext cx="548640" cy="228600"/>
          </a:xfrm>
          <a:prstGeom prst="rect">
            <a:avLst/>
          </a:prstGeom>
          <a:noFill/>
        </p:spPr>
        <p:txBody>
          <a:bodyPr wrap="square" lIns="27432" rIns="27432" tIns="18288" bIns="18288">
            <a:spAutoFit/>
          </a:bodyPr>
          <a:lstStyle/>
          <a:p>
            <a:pPr>
              <a:spcAft>
                <a:spcPts val="1200"/>
              </a:spcAft>
              <a:defRPr sz="1000" b="0">
                <a:solidFill>
                  <a:srgbClr val="5B6B7B"/>
                </a:solidFill>
                <a:latin typeface="Arial"/>
              </a:defRPr>
            </a:pPr>
            <a:r>
              <a:t>04</a:t>
            </a:r>
          </a:p>
        </p:txBody>
      </p:sp>
      <p:pic>
        <p:nvPicPr>
          <p:cNvPr id="7" name="Picture 6" descr="planning-approval.png"/>
          <p:cNvPicPr>
            <a:picLocks noChangeAspect="1"/>
          </p:cNvPicPr>
          <p:nvPr/>
        </p:nvPicPr>
        <p:blipFill>
          <a:blip r:embed="rId3"/>
          <a:stretch>
            <a:fillRect/>
          </a:stretch>
        </p:blipFill>
        <p:spPr>
          <a:xfrm>
            <a:off x="2434958" y="1524584"/>
            <a:ext cx="7291602" cy="467751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47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0972800" cy="320040"/>
          </a:xfrm>
          <a:prstGeom prst="rect">
            <a:avLst/>
          </a:prstGeom>
          <a:noFill/>
        </p:spPr>
        <p:txBody>
          <a:bodyPr wrap="square" lIns="27432" rIns="27432" tIns="18288" bIns="18288">
            <a:spAutoFit/>
          </a:bodyPr>
          <a:lstStyle/>
          <a:p>
            <a:pPr>
              <a:spcAft>
                <a:spcPts val="1200"/>
              </a:spcAft>
              <a:defRPr sz="1100" b="1">
                <a:solidFill>
                  <a:srgbClr val="247C9C"/>
                </a:solidFill>
                <a:latin typeface="Arial"/>
              </a:defRPr>
            </a:pPr>
            <a:r>
              <a:t>STATE DESIGN</a:t>
            </a:r>
          </a:p>
        </p:txBody>
      </p:sp>
      <p:sp>
        <p:nvSpPr>
          <p:cNvPr id="4" name="TextBox 3"/>
          <p:cNvSpPr txBox="1"/>
          <p:nvPr/>
        </p:nvSpPr>
        <p:spPr>
          <a:xfrm>
            <a:off x="411480" y="713232"/>
            <a:ext cx="11247120" cy="640080"/>
          </a:xfrm>
          <a:prstGeom prst="rect">
            <a:avLst/>
          </a:prstGeom>
          <a:noFill/>
        </p:spPr>
        <p:txBody>
          <a:bodyPr wrap="square" lIns="27432" rIns="27432" tIns="18288" bIns="18288">
            <a:spAutoFit/>
          </a:bodyPr>
          <a:lstStyle/>
          <a:p>
            <a:pPr>
              <a:spcAft>
                <a:spcPts val="1200"/>
              </a:spcAft>
              <a:defRPr sz="2800" b="1">
                <a:solidFill>
                  <a:srgbClr val="1D3349"/>
                </a:solidFill>
                <a:latin typeface="Arial"/>
              </a:defRPr>
            </a:pPr>
            <a:r>
              <a:t>Current mission and update request have separate states</a:t>
            </a:r>
          </a:p>
        </p:txBody>
      </p:sp>
      <p:sp>
        <p:nvSpPr>
          <p:cNvPr id="5" name="TextBox 4"/>
          <p:cNvSpPr txBox="1"/>
          <p:nvPr/>
        </p:nvSpPr>
        <p:spPr>
          <a:xfrm>
            <a:off x="411480" y="6519672"/>
            <a:ext cx="10058400" cy="182880"/>
          </a:xfrm>
          <a:prstGeom prst="rect">
            <a:avLst/>
          </a:prstGeom>
          <a:noFill/>
        </p:spPr>
        <p:txBody>
          <a:bodyPr wrap="square" lIns="27432" rIns="27432" tIns="18288" bIns="18288">
            <a:spAutoFit/>
          </a:bodyPr>
          <a:lstStyle/>
          <a:p>
            <a:pPr>
              <a:spcAft>
                <a:spcPts val="1200"/>
              </a:spcAft>
              <a:defRPr sz="900" b="0">
                <a:solidFill>
                  <a:srgbClr val="5B6B7B"/>
                </a:solidFill>
                <a:latin typeface="Arial"/>
              </a:defRPr>
            </a:pPr>
            <a:r>
              <a:t>DroneOps Intelligence · FA26SE238 | Review 2 draft · 19 Oct 2026</a:t>
            </a:r>
          </a:p>
        </p:txBody>
      </p:sp>
      <p:sp>
        <p:nvSpPr>
          <p:cNvPr id="6" name="TextBox 5"/>
          <p:cNvSpPr txBox="1"/>
          <p:nvPr/>
        </p:nvSpPr>
        <p:spPr>
          <a:xfrm>
            <a:off x="11155680" y="6492240"/>
            <a:ext cx="548640" cy="228600"/>
          </a:xfrm>
          <a:prstGeom prst="rect">
            <a:avLst/>
          </a:prstGeom>
          <a:noFill/>
        </p:spPr>
        <p:txBody>
          <a:bodyPr wrap="square" lIns="27432" rIns="27432" tIns="18288" bIns="18288">
            <a:spAutoFit/>
          </a:bodyPr>
          <a:lstStyle/>
          <a:p>
            <a:pPr>
              <a:spcAft>
                <a:spcPts val="1200"/>
              </a:spcAft>
              <a:defRPr sz="1000" b="0">
                <a:solidFill>
                  <a:srgbClr val="5B6B7B"/>
                </a:solidFill>
                <a:latin typeface="Arial"/>
              </a:defRPr>
            </a:pPr>
            <a:r>
              <a:t>05</a:t>
            </a:r>
          </a:p>
        </p:txBody>
      </p:sp>
      <p:pic>
        <p:nvPicPr>
          <p:cNvPr id="7" name="Picture 6" descr="mission-update-request.png"/>
          <p:cNvPicPr>
            <a:picLocks noChangeAspect="1"/>
          </p:cNvPicPr>
          <p:nvPr/>
        </p:nvPicPr>
        <p:blipFill>
          <a:blip r:embed="rId3"/>
          <a:stretch>
            <a:fillRect/>
          </a:stretch>
        </p:blipFill>
        <p:spPr>
          <a:xfrm>
            <a:off x="2172081" y="1610548"/>
            <a:ext cx="7817356" cy="3454023"/>
          </a:xfrm>
          <a:prstGeom prst="rect">
            <a:avLst/>
          </a:prstGeom>
        </p:spPr>
      </p:pic>
      <p:sp>
        <p:nvSpPr>
          <p:cNvPr id="8" name="TextBox 7"/>
          <p:cNvSpPr txBox="1"/>
          <p:nvPr/>
        </p:nvSpPr>
        <p:spPr>
          <a:xfrm>
            <a:off x="731520" y="5532120"/>
            <a:ext cx="10698480" cy="594360"/>
          </a:xfrm>
          <a:prstGeom prst="rect">
            <a:avLst/>
          </a:prstGeom>
          <a:noFill/>
        </p:spPr>
        <p:txBody>
          <a:bodyPr wrap="square" lIns="27432" rIns="27432" tIns="18288" bIns="18288">
            <a:spAutoFit/>
          </a:bodyPr>
          <a:lstStyle/>
          <a:p>
            <a:pPr>
              <a:spcAft>
                <a:spcPts val="1200"/>
              </a:spcAft>
              <a:defRPr sz="2200" b="1">
                <a:solidFill>
                  <a:srgbClr val="247C9C"/>
                </a:solidFill>
                <a:latin typeface="Arial"/>
              </a:defRPr>
            </a:pPr>
            <a:r>
              <a:t>Approved + rejected update → original content and approval remain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47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0972800" cy="320040"/>
          </a:xfrm>
          <a:prstGeom prst="rect">
            <a:avLst/>
          </a:prstGeom>
          <a:noFill/>
        </p:spPr>
        <p:txBody>
          <a:bodyPr wrap="square" lIns="27432" rIns="27432" tIns="18288" bIns="18288">
            <a:spAutoFit/>
          </a:bodyPr>
          <a:lstStyle/>
          <a:p>
            <a:pPr>
              <a:spcAft>
                <a:spcPts val="1200"/>
              </a:spcAft>
              <a:defRPr sz="1100" b="1">
                <a:solidFill>
                  <a:srgbClr val="247C9C"/>
                </a:solidFill>
                <a:latin typeface="Arial"/>
              </a:defRPr>
            </a:pPr>
            <a:r>
              <a:t>STATE DESIGN</a:t>
            </a:r>
          </a:p>
        </p:txBody>
      </p:sp>
      <p:sp>
        <p:nvSpPr>
          <p:cNvPr id="4" name="TextBox 3"/>
          <p:cNvSpPr txBox="1"/>
          <p:nvPr/>
        </p:nvSpPr>
        <p:spPr>
          <a:xfrm>
            <a:off x="411480" y="713232"/>
            <a:ext cx="11247120" cy="640080"/>
          </a:xfrm>
          <a:prstGeom prst="rect">
            <a:avLst/>
          </a:prstGeom>
          <a:noFill/>
        </p:spPr>
        <p:txBody>
          <a:bodyPr wrap="square" lIns="27432" rIns="27432" tIns="18288" bIns="18288">
            <a:spAutoFit/>
          </a:bodyPr>
          <a:lstStyle/>
          <a:p>
            <a:pPr>
              <a:spcAft>
                <a:spcPts val="1200"/>
              </a:spcAft>
              <a:defRPr sz="2800" b="1">
                <a:solidFill>
                  <a:srgbClr val="1D3349"/>
                </a:solidFill>
                <a:latin typeface="Arial"/>
              </a:defRPr>
            </a:pPr>
            <a:r>
              <a:t>Incident states preserve source evidence</a:t>
            </a:r>
          </a:p>
        </p:txBody>
      </p:sp>
      <p:sp>
        <p:nvSpPr>
          <p:cNvPr id="5" name="TextBox 4"/>
          <p:cNvSpPr txBox="1"/>
          <p:nvPr/>
        </p:nvSpPr>
        <p:spPr>
          <a:xfrm>
            <a:off x="411480" y="6519672"/>
            <a:ext cx="10058400" cy="182880"/>
          </a:xfrm>
          <a:prstGeom prst="rect">
            <a:avLst/>
          </a:prstGeom>
          <a:noFill/>
        </p:spPr>
        <p:txBody>
          <a:bodyPr wrap="square" lIns="27432" rIns="27432" tIns="18288" bIns="18288">
            <a:spAutoFit/>
          </a:bodyPr>
          <a:lstStyle/>
          <a:p>
            <a:pPr>
              <a:spcAft>
                <a:spcPts val="1200"/>
              </a:spcAft>
              <a:defRPr sz="900" b="0">
                <a:solidFill>
                  <a:srgbClr val="5B6B7B"/>
                </a:solidFill>
                <a:latin typeface="Arial"/>
              </a:defRPr>
            </a:pPr>
            <a:r>
              <a:t>DroneOps Intelligence · FA26SE238 | Review 2 draft · 19 Oct 2026</a:t>
            </a:r>
          </a:p>
        </p:txBody>
      </p:sp>
      <p:sp>
        <p:nvSpPr>
          <p:cNvPr id="6" name="TextBox 5"/>
          <p:cNvSpPr txBox="1"/>
          <p:nvPr/>
        </p:nvSpPr>
        <p:spPr>
          <a:xfrm>
            <a:off x="11155680" y="6492240"/>
            <a:ext cx="548640" cy="228600"/>
          </a:xfrm>
          <a:prstGeom prst="rect">
            <a:avLst/>
          </a:prstGeom>
          <a:noFill/>
        </p:spPr>
        <p:txBody>
          <a:bodyPr wrap="square" lIns="27432" rIns="27432" tIns="18288" bIns="18288">
            <a:spAutoFit/>
          </a:bodyPr>
          <a:lstStyle/>
          <a:p>
            <a:pPr>
              <a:spcAft>
                <a:spcPts val="1200"/>
              </a:spcAft>
              <a:defRPr sz="1000" b="0">
                <a:solidFill>
                  <a:srgbClr val="5B6B7B"/>
                </a:solidFill>
                <a:latin typeface="Arial"/>
              </a:defRPr>
            </a:pPr>
            <a:r>
              <a:t>06</a:t>
            </a:r>
          </a:p>
        </p:txBody>
      </p:sp>
      <p:pic>
        <p:nvPicPr>
          <p:cNvPr id="7" name="Picture 6" descr="incident-lifecycle.png"/>
          <p:cNvPicPr>
            <a:picLocks noChangeAspect="1"/>
          </p:cNvPicPr>
          <p:nvPr/>
        </p:nvPicPr>
        <p:blipFill>
          <a:blip r:embed="rId3"/>
          <a:stretch>
            <a:fillRect/>
          </a:stretch>
        </p:blipFill>
        <p:spPr>
          <a:xfrm>
            <a:off x="548640" y="1928558"/>
            <a:ext cx="11064240" cy="2269361"/>
          </a:xfrm>
          <a:prstGeom prst="rect">
            <a:avLst/>
          </a:prstGeom>
        </p:spPr>
      </p:pic>
      <p:sp>
        <p:nvSpPr>
          <p:cNvPr id="8" name="TextBox 7"/>
          <p:cNvSpPr txBox="1"/>
          <p:nvPr/>
        </p:nvSpPr>
        <p:spPr>
          <a:xfrm>
            <a:off x="731520" y="4709160"/>
            <a:ext cx="10698480" cy="1097280"/>
          </a:xfrm>
          <a:prstGeom prst="rect">
            <a:avLst/>
          </a:prstGeom>
          <a:noFill/>
        </p:spPr>
        <p:txBody>
          <a:bodyPr wrap="square" lIns="27432" rIns="27432" tIns="18288" bIns="18288">
            <a:spAutoFit/>
          </a:bodyPr>
          <a:lstStyle/>
          <a:p>
            <a:pPr>
              <a:spcAft>
                <a:spcPts val="1200"/>
              </a:spcAft>
              <a:defRPr sz="2200" b="0">
                <a:solidFill>
                  <a:srgbClr val="1D3349"/>
                </a:solidFill>
                <a:latin typeface="Arial"/>
              </a:defRPr>
            </a:pPr>
            <a:r>
              <a:t>Frozen evidence + actor/time/reason + durable alerts</a:t>
            </a:r>
          </a:p>
          <a:p>
            <a:pPr>
              <a:spcAft>
                <a:spcPts val="1200"/>
              </a:spcAft>
              <a:defRPr sz="2200" b="0">
                <a:solidFill>
                  <a:srgbClr val="1D3349"/>
                </a:solidFill>
                <a:latin typeface="Arial"/>
              </a:defRPr>
            </a:pPr>
            <a:r>
              <a:t>Target actions still require API and FE integration.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47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0972800" cy="320040"/>
          </a:xfrm>
          <a:prstGeom prst="rect">
            <a:avLst/>
          </a:prstGeom>
          <a:noFill/>
        </p:spPr>
        <p:txBody>
          <a:bodyPr wrap="square" lIns="27432" rIns="27432" tIns="18288" bIns="18288">
            <a:spAutoFit/>
          </a:bodyPr>
          <a:lstStyle/>
          <a:p>
            <a:pPr>
              <a:spcAft>
                <a:spcPts val="1200"/>
              </a:spcAft>
              <a:defRPr sz="1100" b="1">
                <a:solidFill>
                  <a:srgbClr val="247C9C"/>
                </a:solidFill>
                <a:latin typeface="Arial"/>
              </a:defRPr>
            </a:pPr>
            <a:r>
              <a:t>WORKFLOW DEMO · MF1</a:t>
            </a:r>
          </a:p>
        </p:txBody>
      </p:sp>
      <p:sp>
        <p:nvSpPr>
          <p:cNvPr id="4" name="TextBox 3"/>
          <p:cNvSpPr txBox="1"/>
          <p:nvPr/>
        </p:nvSpPr>
        <p:spPr>
          <a:xfrm>
            <a:off x="411480" y="713232"/>
            <a:ext cx="11247120" cy="640080"/>
          </a:xfrm>
          <a:prstGeom prst="rect">
            <a:avLst/>
          </a:prstGeom>
          <a:noFill/>
        </p:spPr>
        <p:txBody>
          <a:bodyPr wrap="square" lIns="27432" rIns="27432" tIns="18288" bIns="18288">
            <a:spAutoFit/>
          </a:bodyPr>
          <a:lstStyle/>
          <a:p>
            <a:pPr>
              <a:spcAft>
                <a:spcPts val="1200"/>
              </a:spcAft>
              <a:defRPr sz="2800" b="1">
                <a:solidFill>
                  <a:srgbClr val="1D3349"/>
                </a:solidFill>
                <a:latin typeface="Arial"/>
              </a:defRPr>
            </a:pPr>
            <a:r>
              <a:t>Workflow A–C: review every mission update</a:t>
            </a:r>
          </a:p>
        </p:txBody>
      </p:sp>
      <p:sp>
        <p:nvSpPr>
          <p:cNvPr id="5" name="TextBox 4"/>
          <p:cNvSpPr txBox="1"/>
          <p:nvPr/>
        </p:nvSpPr>
        <p:spPr>
          <a:xfrm>
            <a:off x="411480" y="6519672"/>
            <a:ext cx="10058400" cy="182880"/>
          </a:xfrm>
          <a:prstGeom prst="rect">
            <a:avLst/>
          </a:prstGeom>
          <a:noFill/>
        </p:spPr>
        <p:txBody>
          <a:bodyPr wrap="square" lIns="27432" rIns="27432" tIns="18288" bIns="18288">
            <a:spAutoFit/>
          </a:bodyPr>
          <a:lstStyle/>
          <a:p>
            <a:pPr>
              <a:spcAft>
                <a:spcPts val="1200"/>
              </a:spcAft>
              <a:defRPr sz="900" b="0">
                <a:solidFill>
                  <a:srgbClr val="5B6B7B"/>
                </a:solidFill>
                <a:latin typeface="Arial"/>
              </a:defRPr>
            </a:pPr>
            <a:r>
              <a:t>DroneOps Intelligence · FA26SE238 | Review 2 draft · 19 Oct 2026</a:t>
            </a:r>
          </a:p>
        </p:txBody>
      </p:sp>
      <p:sp>
        <p:nvSpPr>
          <p:cNvPr id="6" name="TextBox 5"/>
          <p:cNvSpPr txBox="1"/>
          <p:nvPr/>
        </p:nvSpPr>
        <p:spPr>
          <a:xfrm>
            <a:off x="11155680" y="6492240"/>
            <a:ext cx="548640" cy="228600"/>
          </a:xfrm>
          <a:prstGeom prst="rect">
            <a:avLst/>
          </a:prstGeom>
          <a:noFill/>
        </p:spPr>
        <p:txBody>
          <a:bodyPr wrap="square" lIns="27432" rIns="27432" tIns="18288" bIns="18288">
            <a:spAutoFit/>
          </a:bodyPr>
          <a:lstStyle/>
          <a:p>
            <a:pPr>
              <a:spcAft>
                <a:spcPts val="1200"/>
              </a:spcAft>
              <a:defRPr sz="1000" b="0">
                <a:solidFill>
                  <a:srgbClr val="5B6B7B"/>
                </a:solidFill>
                <a:latin typeface="Arial"/>
              </a:defRPr>
            </a:pPr>
            <a:r>
              <a:t>07</a:t>
            </a:r>
          </a:p>
        </p:txBody>
      </p:sp>
      <p:sp>
        <p:nvSpPr>
          <p:cNvPr id="7" name="Rounded Rectangle 6"/>
          <p:cNvSpPr/>
          <p:nvPr/>
        </p:nvSpPr>
        <p:spPr>
          <a:xfrm>
            <a:off x="548640" y="1645920"/>
            <a:ext cx="5303520" cy="1645920"/>
          </a:xfrm>
          <a:prstGeom prst="roundRect">
            <a:avLst/>
          </a:prstGeom>
          <a:solidFill>
            <a:srgbClr val="FFFFFF"/>
          </a:solidFill>
          <a:ln>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792224"/>
            <a:ext cx="4974336" cy="365760"/>
          </a:xfrm>
          <a:prstGeom prst="rect">
            <a:avLst/>
          </a:prstGeom>
          <a:noFill/>
        </p:spPr>
        <p:txBody>
          <a:bodyPr wrap="square" lIns="27432" rIns="27432" tIns="18288" bIns="18288">
            <a:spAutoFit/>
          </a:bodyPr>
          <a:lstStyle/>
          <a:p>
            <a:pPr>
              <a:spcAft>
                <a:spcPts val="1200"/>
              </a:spcAft>
              <a:defRPr sz="1900" b="1">
                <a:solidFill>
                  <a:srgbClr val="247C9C"/>
                </a:solidFill>
                <a:latin typeface="Arial"/>
              </a:defRPr>
            </a:pPr>
            <a:r>
              <a:t>1 · Save update</a:t>
            </a:r>
          </a:p>
        </p:txBody>
      </p:sp>
      <p:sp>
        <p:nvSpPr>
          <p:cNvPr id="9" name="TextBox 8"/>
          <p:cNvSpPr txBox="1"/>
          <p:nvPr/>
        </p:nvSpPr>
        <p:spPr>
          <a:xfrm>
            <a:off x="713232" y="2267712"/>
            <a:ext cx="4974336" cy="950976"/>
          </a:xfrm>
          <a:prstGeom prst="rect">
            <a:avLst/>
          </a:prstGeom>
          <a:noFill/>
        </p:spPr>
        <p:txBody>
          <a:bodyPr wrap="square" lIns="27432" rIns="27432" tIns="18288" bIns="18288">
            <a:spAutoFit/>
          </a:bodyPr>
          <a:lstStyle/>
          <a:p>
            <a:pPr>
              <a:spcAft>
                <a:spcPts val="1200"/>
              </a:spcAft>
              <a:defRPr sz="1700" b="0">
                <a:solidFill>
                  <a:srgbClr val="1D3349"/>
                </a:solidFill>
                <a:latin typeface="Arial"/>
              </a:defRPr>
            </a:pPr>
            <a:r>
              <a:t>Store proposed content; send Manager review.</a:t>
            </a:r>
          </a:p>
        </p:txBody>
      </p:sp>
      <p:sp>
        <p:nvSpPr>
          <p:cNvPr id="10" name="Rounded Rectangle 9"/>
          <p:cNvSpPr/>
          <p:nvPr/>
        </p:nvSpPr>
        <p:spPr>
          <a:xfrm>
            <a:off x="6309360" y="1645920"/>
            <a:ext cx="5303520" cy="1645920"/>
          </a:xfrm>
          <a:prstGeom prst="roundRect">
            <a:avLst/>
          </a:prstGeom>
          <a:solidFill>
            <a:srgbClr val="FFFFFF"/>
          </a:solidFill>
          <a:ln>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1792224"/>
            <a:ext cx="4974336" cy="365760"/>
          </a:xfrm>
          <a:prstGeom prst="rect">
            <a:avLst/>
          </a:prstGeom>
          <a:noFill/>
        </p:spPr>
        <p:txBody>
          <a:bodyPr wrap="square" lIns="27432" rIns="27432" tIns="18288" bIns="18288">
            <a:spAutoFit/>
          </a:bodyPr>
          <a:lstStyle/>
          <a:p>
            <a:pPr>
              <a:spcAft>
                <a:spcPts val="1200"/>
              </a:spcAft>
              <a:defRPr sz="1900" b="1">
                <a:solidFill>
                  <a:srgbClr val="247C9C"/>
                </a:solidFill>
                <a:latin typeface="Arial"/>
              </a:defRPr>
            </a:pPr>
            <a:r>
              <a:t>2 · Review</a:t>
            </a:r>
          </a:p>
        </p:txBody>
      </p:sp>
      <p:sp>
        <p:nvSpPr>
          <p:cNvPr id="12" name="TextBox 11"/>
          <p:cNvSpPr txBox="1"/>
          <p:nvPr/>
        </p:nvSpPr>
        <p:spPr>
          <a:xfrm>
            <a:off x="6473952" y="2267712"/>
            <a:ext cx="4974336" cy="950976"/>
          </a:xfrm>
          <a:prstGeom prst="rect">
            <a:avLst/>
          </a:prstGeom>
          <a:noFill/>
        </p:spPr>
        <p:txBody>
          <a:bodyPr wrap="square" lIns="27432" rIns="27432" tIns="18288" bIns="18288">
            <a:spAutoFit/>
          </a:bodyPr>
          <a:lstStyle/>
          <a:p>
            <a:pPr>
              <a:spcAft>
                <a:spcPts val="1200"/>
              </a:spcAft>
              <a:defRPr sz="1700" b="0">
                <a:solidFill>
                  <a:srgbClr val="1D3349"/>
                </a:solidFill>
                <a:latin typeface="Arial"/>
              </a:defRPr>
            </a:pPr>
            <a:r>
              <a:t>Compare old/new content and current validation.</a:t>
            </a:r>
          </a:p>
        </p:txBody>
      </p:sp>
      <p:sp>
        <p:nvSpPr>
          <p:cNvPr id="13" name="Rounded Rectangle 12"/>
          <p:cNvSpPr/>
          <p:nvPr/>
        </p:nvSpPr>
        <p:spPr>
          <a:xfrm>
            <a:off x="548640" y="3794760"/>
            <a:ext cx="5303520" cy="1645920"/>
          </a:xfrm>
          <a:prstGeom prst="roundRect">
            <a:avLst/>
          </a:prstGeom>
          <a:solidFill>
            <a:srgbClr val="FFFFFF"/>
          </a:solidFill>
          <a:ln>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3941064"/>
            <a:ext cx="4974336" cy="365760"/>
          </a:xfrm>
          <a:prstGeom prst="rect">
            <a:avLst/>
          </a:prstGeom>
          <a:noFill/>
        </p:spPr>
        <p:txBody>
          <a:bodyPr wrap="square" lIns="27432" rIns="27432" tIns="18288" bIns="18288">
            <a:spAutoFit/>
          </a:bodyPr>
          <a:lstStyle/>
          <a:p>
            <a:pPr>
              <a:spcAft>
                <a:spcPts val="1200"/>
              </a:spcAft>
              <a:defRPr sz="1900" b="1">
                <a:solidFill>
                  <a:srgbClr val="247C9C"/>
                </a:solidFill>
                <a:latin typeface="Arial"/>
              </a:defRPr>
            </a:pPr>
            <a:r>
              <a:t>3 · Reject</a:t>
            </a:r>
          </a:p>
        </p:txBody>
      </p:sp>
      <p:sp>
        <p:nvSpPr>
          <p:cNvPr id="15" name="TextBox 14"/>
          <p:cNvSpPr txBox="1"/>
          <p:nvPr/>
        </p:nvSpPr>
        <p:spPr>
          <a:xfrm>
            <a:off x="713232" y="4416552"/>
            <a:ext cx="4974336" cy="950976"/>
          </a:xfrm>
          <a:prstGeom prst="rect">
            <a:avLst/>
          </a:prstGeom>
          <a:noFill/>
        </p:spPr>
        <p:txBody>
          <a:bodyPr wrap="square" lIns="27432" rIns="27432" tIns="18288" bIns="18288">
            <a:spAutoFit/>
          </a:bodyPr>
          <a:lstStyle/>
          <a:p>
            <a:pPr>
              <a:spcAft>
                <a:spcPts val="1200"/>
              </a:spcAft>
              <a:defRPr sz="1700" b="0">
                <a:solidFill>
                  <a:srgbClr val="1D3349"/>
                </a:solidFill>
                <a:latin typeface="Arial"/>
              </a:defRPr>
            </a:pPr>
            <a:r>
              <a:t>Keep old content and prior Approved status.</a:t>
            </a:r>
          </a:p>
        </p:txBody>
      </p:sp>
      <p:sp>
        <p:nvSpPr>
          <p:cNvPr id="16" name="Rounded Rectangle 15"/>
          <p:cNvSpPr/>
          <p:nvPr/>
        </p:nvSpPr>
        <p:spPr>
          <a:xfrm>
            <a:off x="6309360" y="3794760"/>
            <a:ext cx="5303520" cy="1645920"/>
          </a:xfrm>
          <a:prstGeom prst="roundRect">
            <a:avLst/>
          </a:prstGeom>
          <a:solidFill>
            <a:srgbClr val="FFFFFF"/>
          </a:solidFill>
          <a:ln>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73952" y="3941064"/>
            <a:ext cx="4974336" cy="365760"/>
          </a:xfrm>
          <a:prstGeom prst="rect">
            <a:avLst/>
          </a:prstGeom>
          <a:noFill/>
        </p:spPr>
        <p:txBody>
          <a:bodyPr wrap="square" lIns="27432" rIns="27432" tIns="18288" bIns="18288">
            <a:spAutoFit/>
          </a:bodyPr>
          <a:lstStyle/>
          <a:p>
            <a:pPr>
              <a:spcAft>
                <a:spcPts val="1200"/>
              </a:spcAft>
              <a:defRPr sz="1900" b="1">
                <a:solidFill>
                  <a:srgbClr val="247C9C"/>
                </a:solidFill>
                <a:latin typeface="Arial"/>
              </a:defRPr>
            </a:pPr>
            <a:r>
              <a:t>4 · Approve</a:t>
            </a:r>
          </a:p>
        </p:txBody>
      </p:sp>
      <p:sp>
        <p:nvSpPr>
          <p:cNvPr id="18" name="TextBox 17"/>
          <p:cNvSpPr txBox="1"/>
          <p:nvPr/>
        </p:nvSpPr>
        <p:spPr>
          <a:xfrm>
            <a:off x="6473952" y="4416552"/>
            <a:ext cx="4974336" cy="950976"/>
          </a:xfrm>
          <a:prstGeom prst="rect">
            <a:avLst/>
          </a:prstGeom>
          <a:noFill/>
        </p:spPr>
        <p:txBody>
          <a:bodyPr wrap="square" lIns="27432" rIns="27432" tIns="18288" bIns="18288">
            <a:spAutoFit/>
          </a:bodyPr>
          <a:lstStyle/>
          <a:p>
            <a:pPr>
              <a:spcAft>
                <a:spcPts val="1200"/>
              </a:spcAft>
              <a:defRPr sz="1700" b="0">
                <a:solidFill>
                  <a:srgbClr val="1D3349"/>
                </a:solidFill>
                <a:latin typeface="Arial"/>
              </a:defRPr>
            </a:pPr>
            <a:r>
              <a:t>Apply all accepted changes to the same mission.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47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0972800" cy="320040"/>
          </a:xfrm>
          <a:prstGeom prst="rect">
            <a:avLst/>
          </a:prstGeom>
          <a:noFill/>
        </p:spPr>
        <p:txBody>
          <a:bodyPr wrap="square" lIns="27432" rIns="27432" tIns="18288" bIns="18288">
            <a:spAutoFit/>
          </a:bodyPr>
          <a:lstStyle/>
          <a:p>
            <a:pPr>
              <a:spcAft>
                <a:spcPts val="1200"/>
              </a:spcAft>
              <a:defRPr sz="1100" b="1">
                <a:solidFill>
                  <a:srgbClr val="247C9C"/>
                </a:solidFill>
                <a:latin typeface="Arial"/>
              </a:defRPr>
            </a:pPr>
            <a:r>
              <a:t>WORKFLOW DEMO · MF2</a:t>
            </a:r>
          </a:p>
        </p:txBody>
      </p:sp>
      <p:sp>
        <p:nvSpPr>
          <p:cNvPr id="4" name="TextBox 3"/>
          <p:cNvSpPr txBox="1"/>
          <p:nvPr/>
        </p:nvSpPr>
        <p:spPr>
          <a:xfrm>
            <a:off x="411480" y="713232"/>
            <a:ext cx="11247120" cy="640080"/>
          </a:xfrm>
          <a:prstGeom prst="rect">
            <a:avLst/>
          </a:prstGeom>
          <a:noFill/>
        </p:spPr>
        <p:txBody>
          <a:bodyPr wrap="square" lIns="27432" rIns="27432" tIns="18288" bIns="18288">
            <a:spAutoFit/>
          </a:bodyPr>
          <a:lstStyle/>
          <a:p>
            <a:pPr>
              <a:spcAft>
                <a:spcPts val="1200"/>
              </a:spcAft>
              <a:defRPr sz="2800" b="1">
                <a:solidFill>
                  <a:srgbClr val="1D3349"/>
                </a:solidFill>
                <a:latin typeface="Arial"/>
              </a:defRPr>
            </a:pPr>
            <a:r>
              <a:t>Workflow D: telemetry → monitoring → incidents</a:t>
            </a:r>
          </a:p>
        </p:txBody>
      </p:sp>
      <p:sp>
        <p:nvSpPr>
          <p:cNvPr id="5" name="TextBox 4"/>
          <p:cNvSpPr txBox="1"/>
          <p:nvPr/>
        </p:nvSpPr>
        <p:spPr>
          <a:xfrm>
            <a:off x="411480" y="6519672"/>
            <a:ext cx="10058400" cy="182880"/>
          </a:xfrm>
          <a:prstGeom prst="rect">
            <a:avLst/>
          </a:prstGeom>
          <a:noFill/>
        </p:spPr>
        <p:txBody>
          <a:bodyPr wrap="square" lIns="27432" rIns="27432" tIns="18288" bIns="18288">
            <a:spAutoFit/>
          </a:bodyPr>
          <a:lstStyle/>
          <a:p>
            <a:pPr>
              <a:spcAft>
                <a:spcPts val="1200"/>
              </a:spcAft>
              <a:defRPr sz="900" b="0">
                <a:solidFill>
                  <a:srgbClr val="5B6B7B"/>
                </a:solidFill>
                <a:latin typeface="Arial"/>
              </a:defRPr>
            </a:pPr>
            <a:r>
              <a:t>DroneOps Intelligence · FA26SE238 | Review 2 draft · 19 Oct 2026</a:t>
            </a:r>
          </a:p>
        </p:txBody>
      </p:sp>
      <p:sp>
        <p:nvSpPr>
          <p:cNvPr id="6" name="TextBox 5"/>
          <p:cNvSpPr txBox="1"/>
          <p:nvPr/>
        </p:nvSpPr>
        <p:spPr>
          <a:xfrm>
            <a:off x="11155680" y="6492240"/>
            <a:ext cx="548640" cy="228600"/>
          </a:xfrm>
          <a:prstGeom prst="rect">
            <a:avLst/>
          </a:prstGeom>
          <a:noFill/>
        </p:spPr>
        <p:txBody>
          <a:bodyPr wrap="square" lIns="27432" rIns="27432" tIns="18288" bIns="18288">
            <a:spAutoFit/>
          </a:bodyPr>
          <a:lstStyle/>
          <a:p>
            <a:pPr>
              <a:spcAft>
                <a:spcPts val="1200"/>
              </a:spcAft>
              <a:defRPr sz="1000" b="0">
                <a:solidFill>
                  <a:srgbClr val="5B6B7B"/>
                </a:solidFill>
                <a:latin typeface="Arial"/>
              </a:defRPr>
            </a:pPr>
            <a:r>
              <a:t>08</a:t>
            </a:r>
          </a:p>
        </p:txBody>
      </p:sp>
      <p:sp>
        <p:nvSpPr>
          <p:cNvPr id="7" name="Rounded Rectangle 6"/>
          <p:cNvSpPr/>
          <p:nvPr/>
        </p:nvSpPr>
        <p:spPr>
          <a:xfrm>
            <a:off x="548640" y="1645920"/>
            <a:ext cx="5303520" cy="1691640"/>
          </a:xfrm>
          <a:prstGeom prst="roundRect">
            <a:avLst/>
          </a:prstGeom>
          <a:solidFill>
            <a:srgbClr val="FFFFFF"/>
          </a:solidFill>
          <a:ln>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792224"/>
            <a:ext cx="4974336" cy="365760"/>
          </a:xfrm>
          <a:prstGeom prst="rect">
            <a:avLst/>
          </a:prstGeom>
          <a:noFill/>
        </p:spPr>
        <p:txBody>
          <a:bodyPr wrap="square" lIns="27432" rIns="27432" tIns="18288" bIns="18288">
            <a:spAutoFit/>
          </a:bodyPr>
          <a:lstStyle/>
          <a:p>
            <a:pPr>
              <a:spcAft>
                <a:spcPts val="1200"/>
              </a:spcAft>
              <a:defRPr sz="1900" b="1">
                <a:solidFill>
                  <a:srgbClr val="247C9C"/>
                </a:solidFill>
                <a:latin typeface="Arial"/>
              </a:defRPr>
            </a:pPr>
            <a:r>
              <a:t>Receive and persist</a:t>
            </a:r>
          </a:p>
        </p:txBody>
      </p:sp>
      <p:sp>
        <p:nvSpPr>
          <p:cNvPr id="9" name="TextBox 8"/>
          <p:cNvSpPr txBox="1"/>
          <p:nvPr/>
        </p:nvSpPr>
        <p:spPr>
          <a:xfrm>
            <a:off x="713232" y="2267712"/>
            <a:ext cx="4974336" cy="996696"/>
          </a:xfrm>
          <a:prstGeom prst="rect">
            <a:avLst/>
          </a:prstGeom>
          <a:noFill/>
        </p:spPr>
        <p:txBody>
          <a:bodyPr wrap="square" lIns="27432" rIns="27432" tIns="18288" bIns="18288">
            <a:spAutoFit/>
          </a:bodyPr>
          <a:lstStyle/>
          <a:p>
            <a:pPr>
              <a:spcAft>
                <a:spcPts val="1200"/>
              </a:spcAft>
              <a:defRPr sz="1700" b="0">
                <a:solidFill>
                  <a:srgbClr val="1D3349"/>
                </a:solidFill>
                <a:latin typeface="Arial"/>
              </a:defRPr>
            </a:pPr>
            <a:r>
              <a:t>Authenticated normalized samples; source/receive times; deduplicate.</a:t>
            </a:r>
          </a:p>
        </p:txBody>
      </p:sp>
      <p:sp>
        <p:nvSpPr>
          <p:cNvPr id="10" name="Rounded Rectangle 9"/>
          <p:cNvSpPr/>
          <p:nvPr/>
        </p:nvSpPr>
        <p:spPr>
          <a:xfrm>
            <a:off x="6309360" y="1645920"/>
            <a:ext cx="5303520" cy="1691640"/>
          </a:xfrm>
          <a:prstGeom prst="roundRect">
            <a:avLst/>
          </a:prstGeom>
          <a:solidFill>
            <a:srgbClr val="FFFFFF"/>
          </a:solidFill>
          <a:ln>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1792224"/>
            <a:ext cx="4974336" cy="365760"/>
          </a:xfrm>
          <a:prstGeom prst="rect">
            <a:avLst/>
          </a:prstGeom>
          <a:noFill/>
        </p:spPr>
        <p:txBody>
          <a:bodyPr wrap="square" lIns="27432" rIns="27432" tIns="18288" bIns="18288">
            <a:spAutoFit/>
          </a:bodyPr>
          <a:lstStyle/>
          <a:p>
            <a:pPr>
              <a:spcAft>
                <a:spcPts val="1200"/>
              </a:spcAft>
              <a:defRPr sz="1900" b="1">
                <a:solidFill>
                  <a:srgbClr val="247C9C"/>
                </a:solidFill>
                <a:latin typeface="Arial"/>
              </a:defRPr>
            </a:pPr>
            <a:r>
              <a:t>Monitor and reconnect</a:t>
            </a:r>
          </a:p>
        </p:txBody>
      </p:sp>
      <p:sp>
        <p:nvSpPr>
          <p:cNvPr id="12" name="TextBox 11"/>
          <p:cNvSpPr txBox="1"/>
          <p:nvPr/>
        </p:nvSpPr>
        <p:spPr>
          <a:xfrm>
            <a:off x="6473952" y="2267712"/>
            <a:ext cx="4974336" cy="996696"/>
          </a:xfrm>
          <a:prstGeom prst="rect">
            <a:avLst/>
          </a:prstGeom>
          <a:noFill/>
        </p:spPr>
        <p:txBody>
          <a:bodyPr wrap="square" lIns="27432" rIns="27432" tIns="18288" bIns="18288">
            <a:spAutoFit/>
          </a:bodyPr>
          <a:lstStyle/>
          <a:p>
            <a:pPr>
              <a:spcAft>
                <a:spcPts val="1200"/>
              </a:spcAft>
              <a:defRPr sz="1700" b="0">
                <a:solidFill>
                  <a:srgbClr val="1D3349"/>
                </a:solidFill>
                <a:latin typeface="Arial"/>
              </a:defRPr>
            </a:pPr>
            <a:r>
              <a:t>Latest snapshot + SSE; freshness, unavailable and offline states.</a:t>
            </a:r>
          </a:p>
        </p:txBody>
      </p:sp>
      <p:sp>
        <p:nvSpPr>
          <p:cNvPr id="13" name="Rounded Rectangle 12"/>
          <p:cNvSpPr/>
          <p:nvPr/>
        </p:nvSpPr>
        <p:spPr>
          <a:xfrm>
            <a:off x="548640" y="3794760"/>
            <a:ext cx="5303520" cy="1691640"/>
          </a:xfrm>
          <a:prstGeom prst="roundRect">
            <a:avLst/>
          </a:prstGeom>
          <a:solidFill>
            <a:srgbClr val="FFFFFF"/>
          </a:solidFill>
          <a:ln>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3941064"/>
            <a:ext cx="4974336" cy="365760"/>
          </a:xfrm>
          <a:prstGeom prst="rect">
            <a:avLst/>
          </a:prstGeom>
          <a:noFill/>
        </p:spPr>
        <p:txBody>
          <a:bodyPr wrap="square" lIns="27432" rIns="27432" tIns="18288" bIns="18288">
            <a:spAutoFit/>
          </a:bodyPr>
          <a:lstStyle/>
          <a:p>
            <a:pPr>
              <a:spcAft>
                <a:spcPts val="1200"/>
              </a:spcAft>
              <a:defRPr sz="1900" b="1">
                <a:solidFill>
                  <a:srgbClr val="247C9C"/>
                </a:solidFill>
                <a:latin typeface="Arial"/>
              </a:defRPr>
            </a:pPr>
            <a:r>
              <a:t>Detect and record</a:t>
            </a:r>
          </a:p>
        </p:txBody>
      </p:sp>
      <p:sp>
        <p:nvSpPr>
          <p:cNvPr id="15" name="TextBox 14"/>
          <p:cNvSpPr txBox="1"/>
          <p:nvPr/>
        </p:nvSpPr>
        <p:spPr>
          <a:xfrm>
            <a:off x="713232" y="4416552"/>
            <a:ext cx="4974336" cy="996696"/>
          </a:xfrm>
          <a:prstGeom prst="rect">
            <a:avLst/>
          </a:prstGeom>
          <a:noFill/>
        </p:spPr>
        <p:txBody>
          <a:bodyPr wrap="square" lIns="27432" rIns="27432" tIns="18288" bIns="18288">
            <a:spAutoFit/>
          </a:bodyPr>
          <a:lstStyle/>
          <a:p>
            <a:pPr>
              <a:spcAft>
                <a:spcPts val="1200"/>
              </a:spcAft>
              <a:defRPr sz="1700" b="0">
                <a:solidFill>
                  <a:srgbClr val="1D3349"/>
                </a:solidFill>
                <a:latin typeface="Arial"/>
              </a:defRPr>
            </a:pPr>
            <a:r>
              <a:t>Unit-aware rules; independent loss timer; frozen evidence.</a:t>
            </a:r>
          </a:p>
        </p:txBody>
      </p:sp>
      <p:sp>
        <p:nvSpPr>
          <p:cNvPr id="16" name="Rounded Rectangle 15"/>
          <p:cNvSpPr/>
          <p:nvPr/>
        </p:nvSpPr>
        <p:spPr>
          <a:xfrm>
            <a:off x="6309360" y="3794760"/>
            <a:ext cx="5303520" cy="1691640"/>
          </a:xfrm>
          <a:prstGeom prst="roundRect">
            <a:avLst/>
          </a:prstGeom>
          <a:solidFill>
            <a:srgbClr val="FFFFFF"/>
          </a:solidFill>
          <a:ln>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73952" y="3941064"/>
            <a:ext cx="4974336" cy="365760"/>
          </a:xfrm>
          <a:prstGeom prst="rect">
            <a:avLst/>
          </a:prstGeom>
          <a:noFill/>
        </p:spPr>
        <p:txBody>
          <a:bodyPr wrap="square" lIns="27432" rIns="27432" tIns="18288" bIns="18288">
            <a:spAutoFit/>
          </a:bodyPr>
          <a:lstStyle/>
          <a:p>
            <a:pPr>
              <a:spcAft>
                <a:spcPts val="1200"/>
              </a:spcAft>
              <a:defRPr sz="1900" b="1">
                <a:solidFill>
                  <a:srgbClr val="247C9C"/>
                </a:solidFill>
                <a:latin typeface="Arial"/>
              </a:defRPr>
            </a:pPr>
            <a:r>
              <a:t>Handle and notify</a:t>
            </a:r>
          </a:p>
        </p:txBody>
      </p:sp>
      <p:sp>
        <p:nvSpPr>
          <p:cNvPr id="18" name="TextBox 17"/>
          <p:cNvSpPr txBox="1"/>
          <p:nvPr/>
        </p:nvSpPr>
        <p:spPr>
          <a:xfrm>
            <a:off x="6473952" y="4416552"/>
            <a:ext cx="4974336" cy="996696"/>
          </a:xfrm>
          <a:prstGeom prst="rect">
            <a:avLst/>
          </a:prstGeom>
          <a:noFill/>
        </p:spPr>
        <p:txBody>
          <a:bodyPr wrap="square" lIns="27432" rIns="27432" tIns="18288" bIns="18288">
            <a:spAutoFit/>
          </a:bodyPr>
          <a:lstStyle/>
          <a:p>
            <a:pPr>
              <a:spcAft>
                <a:spcPts val="1200"/>
              </a:spcAft>
              <a:defRPr sz="1700" b="0">
                <a:solidFill>
                  <a:srgbClr val="1D3349"/>
                </a:solidFill>
                <a:latin typeface="Arial"/>
              </a:defRPr>
            </a:pPr>
            <a:r>
              <a:t>Acknowledge → Manager resolve; durable alert and timeline.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47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0972800" cy="320040"/>
          </a:xfrm>
          <a:prstGeom prst="rect">
            <a:avLst/>
          </a:prstGeom>
          <a:noFill/>
        </p:spPr>
        <p:txBody>
          <a:bodyPr wrap="square" lIns="27432" rIns="27432" tIns="18288" bIns="18288">
            <a:spAutoFit/>
          </a:bodyPr>
          <a:lstStyle/>
          <a:p>
            <a:pPr>
              <a:spcAft>
                <a:spcPts val="1200"/>
              </a:spcAft>
              <a:defRPr sz="1100" b="1">
                <a:solidFill>
                  <a:srgbClr val="247C9C"/>
                </a:solidFill>
                <a:latin typeface="Arial"/>
              </a:defRPr>
            </a:pPr>
            <a:r>
              <a:t>MF3 / MF4 DESIGN</a:t>
            </a:r>
          </a:p>
        </p:txBody>
      </p:sp>
      <p:sp>
        <p:nvSpPr>
          <p:cNvPr id="4" name="TextBox 3"/>
          <p:cNvSpPr txBox="1"/>
          <p:nvPr/>
        </p:nvSpPr>
        <p:spPr>
          <a:xfrm>
            <a:off x="411480" y="713232"/>
            <a:ext cx="11247120" cy="640080"/>
          </a:xfrm>
          <a:prstGeom prst="rect">
            <a:avLst/>
          </a:prstGeom>
          <a:noFill/>
        </p:spPr>
        <p:txBody>
          <a:bodyPr wrap="square" lIns="27432" rIns="27432" tIns="18288" bIns="18288">
            <a:spAutoFit/>
          </a:bodyPr>
          <a:lstStyle/>
          <a:p>
            <a:pPr>
              <a:spcAft>
                <a:spcPts val="1200"/>
              </a:spcAft>
              <a:defRPr sz="2800" b="1">
                <a:solidFill>
                  <a:srgbClr val="1D3349"/>
                </a:solidFill>
                <a:latin typeface="Arial"/>
              </a:defRPr>
            </a:pPr>
            <a:r>
              <a:t>History and AI retain a traceable evidence chain</a:t>
            </a:r>
          </a:p>
        </p:txBody>
      </p:sp>
      <p:sp>
        <p:nvSpPr>
          <p:cNvPr id="5" name="TextBox 4"/>
          <p:cNvSpPr txBox="1"/>
          <p:nvPr/>
        </p:nvSpPr>
        <p:spPr>
          <a:xfrm>
            <a:off x="411480" y="6519672"/>
            <a:ext cx="10058400" cy="182880"/>
          </a:xfrm>
          <a:prstGeom prst="rect">
            <a:avLst/>
          </a:prstGeom>
          <a:noFill/>
        </p:spPr>
        <p:txBody>
          <a:bodyPr wrap="square" lIns="27432" rIns="27432" tIns="18288" bIns="18288">
            <a:spAutoFit/>
          </a:bodyPr>
          <a:lstStyle/>
          <a:p>
            <a:pPr>
              <a:spcAft>
                <a:spcPts val="1200"/>
              </a:spcAft>
              <a:defRPr sz="900" b="0">
                <a:solidFill>
                  <a:srgbClr val="5B6B7B"/>
                </a:solidFill>
                <a:latin typeface="Arial"/>
              </a:defRPr>
            </a:pPr>
            <a:r>
              <a:t>DroneOps Intelligence · FA26SE238 | Review 2 draft · 19 Oct 2026</a:t>
            </a:r>
          </a:p>
        </p:txBody>
      </p:sp>
      <p:sp>
        <p:nvSpPr>
          <p:cNvPr id="6" name="TextBox 5"/>
          <p:cNvSpPr txBox="1"/>
          <p:nvPr/>
        </p:nvSpPr>
        <p:spPr>
          <a:xfrm>
            <a:off x="11155680" y="6492240"/>
            <a:ext cx="548640" cy="228600"/>
          </a:xfrm>
          <a:prstGeom prst="rect">
            <a:avLst/>
          </a:prstGeom>
          <a:noFill/>
        </p:spPr>
        <p:txBody>
          <a:bodyPr wrap="square" lIns="27432" rIns="27432" tIns="18288" bIns="18288">
            <a:spAutoFit/>
          </a:bodyPr>
          <a:lstStyle/>
          <a:p>
            <a:pPr>
              <a:spcAft>
                <a:spcPts val="1200"/>
              </a:spcAft>
              <a:defRPr sz="1000" b="0">
                <a:solidFill>
                  <a:srgbClr val="5B6B7B"/>
                </a:solidFill>
                <a:latin typeface="Arial"/>
              </a:defRPr>
            </a:pPr>
            <a:r>
              <a:t>09</a:t>
            </a:r>
          </a:p>
        </p:txBody>
      </p:sp>
      <p:sp>
        <p:nvSpPr>
          <p:cNvPr id="7" name="Rounded Rectangle 6"/>
          <p:cNvSpPr/>
          <p:nvPr/>
        </p:nvSpPr>
        <p:spPr>
          <a:xfrm>
            <a:off x="548640" y="1737360"/>
            <a:ext cx="5303520" cy="2057400"/>
          </a:xfrm>
          <a:prstGeom prst="roundRect">
            <a:avLst/>
          </a:prstGeom>
          <a:solidFill>
            <a:srgbClr val="FFFFFF"/>
          </a:solidFill>
          <a:ln>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883664"/>
            <a:ext cx="4974336" cy="365760"/>
          </a:xfrm>
          <a:prstGeom prst="rect">
            <a:avLst/>
          </a:prstGeom>
          <a:noFill/>
        </p:spPr>
        <p:txBody>
          <a:bodyPr wrap="square" lIns="27432" rIns="27432" tIns="18288" bIns="18288">
            <a:spAutoFit/>
          </a:bodyPr>
          <a:lstStyle/>
          <a:p>
            <a:pPr>
              <a:spcAft>
                <a:spcPts val="1200"/>
              </a:spcAft>
              <a:defRPr sz="1900" b="1">
                <a:solidFill>
                  <a:srgbClr val="247C9C"/>
                </a:solidFill>
                <a:latin typeface="Arial"/>
              </a:defRPr>
            </a:pPr>
            <a:r>
              <a:t>Post-flight history</a:t>
            </a:r>
          </a:p>
        </p:txBody>
      </p:sp>
      <p:sp>
        <p:nvSpPr>
          <p:cNvPr id="9" name="TextBox 8"/>
          <p:cNvSpPr txBox="1"/>
          <p:nvPr/>
        </p:nvSpPr>
        <p:spPr>
          <a:xfrm>
            <a:off x="713232" y="2359152"/>
            <a:ext cx="4974336" cy="1362456"/>
          </a:xfrm>
          <a:prstGeom prst="rect">
            <a:avLst/>
          </a:prstGeom>
          <a:noFill/>
        </p:spPr>
        <p:txBody>
          <a:bodyPr wrap="square" lIns="27432" rIns="27432" tIns="18288" bIns="18288">
            <a:spAutoFit/>
          </a:bodyPr>
          <a:lstStyle/>
          <a:p>
            <a:pPr>
              <a:spcAft>
                <a:spcPts val="1200"/>
              </a:spcAft>
              <a:defRPr sz="1700" b="0">
                <a:solidFill>
                  <a:srgbClr val="1D3349"/>
                </a:solidFill>
                <a:latin typeface="Arial"/>
              </a:defRPr>
            </a:pPr>
            <a:r>
              <a:t>Known telemetry fixture → report metrics, incidents and coverage.</a:t>
            </a:r>
          </a:p>
        </p:txBody>
      </p:sp>
      <p:sp>
        <p:nvSpPr>
          <p:cNvPr id="10" name="Rounded Rectangle 9"/>
          <p:cNvSpPr/>
          <p:nvPr/>
        </p:nvSpPr>
        <p:spPr>
          <a:xfrm>
            <a:off x="6309360" y="1737360"/>
            <a:ext cx="5303520" cy="2057400"/>
          </a:xfrm>
          <a:prstGeom prst="roundRect">
            <a:avLst/>
          </a:prstGeom>
          <a:solidFill>
            <a:srgbClr val="FFFFFF"/>
          </a:solidFill>
          <a:ln>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1883664"/>
            <a:ext cx="4974336" cy="365760"/>
          </a:xfrm>
          <a:prstGeom prst="rect">
            <a:avLst/>
          </a:prstGeom>
          <a:noFill/>
        </p:spPr>
        <p:txBody>
          <a:bodyPr wrap="square" lIns="27432" rIns="27432" tIns="18288" bIns="18288">
            <a:spAutoFit/>
          </a:bodyPr>
          <a:lstStyle/>
          <a:p>
            <a:pPr>
              <a:spcAft>
                <a:spcPts val="1200"/>
              </a:spcAft>
              <a:defRPr sz="1900" b="1">
                <a:solidFill>
                  <a:srgbClr val="247C9C"/>
                </a:solidFill>
                <a:latin typeface="Arial"/>
              </a:defRPr>
            </a:pPr>
            <a:r>
              <a:t>Advisory AI</a:t>
            </a:r>
          </a:p>
        </p:txBody>
      </p:sp>
      <p:sp>
        <p:nvSpPr>
          <p:cNvPr id="12" name="TextBox 11"/>
          <p:cNvSpPr txBox="1"/>
          <p:nvPr/>
        </p:nvSpPr>
        <p:spPr>
          <a:xfrm>
            <a:off x="6473952" y="2359152"/>
            <a:ext cx="4974336" cy="1362456"/>
          </a:xfrm>
          <a:prstGeom prst="rect">
            <a:avLst/>
          </a:prstGeom>
          <a:noFill/>
        </p:spPr>
        <p:txBody>
          <a:bodyPr wrap="square" lIns="27432" rIns="27432" tIns="18288" bIns="18288">
            <a:spAutoFit/>
          </a:bodyPr>
          <a:lstStyle/>
          <a:p>
            <a:pPr>
              <a:spcAft>
                <a:spcPts val="1200"/>
              </a:spcAft>
              <a:defRPr sz="1700" b="0">
                <a:solidFill>
                  <a:srgbClr val="1D3349"/>
                </a:solidFill>
                <a:latin typeface="Arial"/>
              </a:defRPr>
            </a:pPr>
            <a:r>
              <a:t>Authorized context → provider result or explicit unavailable state.</a:t>
            </a:r>
          </a:p>
        </p:txBody>
      </p:sp>
      <p:sp>
        <p:nvSpPr>
          <p:cNvPr id="13" name="TextBox 12"/>
          <p:cNvSpPr txBox="1"/>
          <p:nvPr/>
        </p:nvSpPr>
        <p:spPr>
          <a:xfrm>
            <a:off x="731520" y="4480560"/>
            <a:ext cx="10607040" cy="1005840"/>
          </a:xfrm>
          <a:prstGeom prst="rect">
            <a:avLst/>
          </a:prstGeom>
          <a:noFill/>
        </p:spPr>
        <p:txBody>
          <a:bodyPr wrap="square" lIns="27432" rIns="27432" tIns="18288" bIns="18288">
            <a:spAutoFit/>
          </a:bodyPr>
          <a:lstStyle/>
          <a:p>
            <a:pPr>
              <a:spcAft>
                <a:spcPts val="1200"/>
              </a:spcAft>
              <a:defRPr sz="2300" b="1">
                <a:solidFill>
                  <a:srgbClr val="247C9C"/>
                </a:solidFill>
                <a:latin typeface="Arial"/>
              </a:defRPr>
            </a:pPr>
            <a:r>
              <a:t>Open scope item: registered Top-k similarity evidence versus current provider-only integration.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47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0972800" cy="320040"/>
          </a:xfrm>
          <a:prstGeom prst="rect">
            <a:avLst/>
          </a:prstGeom>
          <a:noFill/>
        </p:spPr>
        <p:txBody>
          <a:bodyPr wrap="square" lIns="27432" rIns="27432" tIns="18288" bIns="18288">
            <a:spAutoFit/>
          </a:bodyPr>
          <a:lstStyle/>
          <a:p>
            <a:pPr>
              <a:spcAft>
                <a:spcPts val="1200"/>
              </a:spcAft>
              <a:defRPr sz="1100" b="1">
                <a:solidFill>
                  <a:srgbClr val="247C9C"/>
                </a:solidFill>
                <a:latin typeface="Arial"/>
              </a:defRPr>
            </a:pPr>
            <a:r>
              <a:t>TEST PLAN DRAFT</a:t>
            </a:r>
          </a:p>
        </p:txBody>
      </p:sp>
      <p:sp>
        <p:nvSpPr>
          <p:cNvPr id="4" name="TextBox 3"/>
          <p:cNvSpPr txBox="1"/>
          <p:nvPr/>
        </p:nvSpPr>
        <p:spPr>
          <a:xfrm>
            <a:off x="411480" y="713232"/>
            <a:ext cx="11247120" cy="640080"/>
          </a:xfrm>
          <a:prstGeom prst="rect">
            <a:avLst/>
          </a:prstGeom>
          <a:noFill/>
        </p:spPr>
        <p:txBody>
          <a:bodyPr wrap="square" lIns="27432" rIns="27432" tIns="18288" bIns="18288">
            <a:spAutoFit/>
          </a:bodyPr>
          <a:lstStyle/>
          <a:p>
            <a:pPr>
              <a:spcAft>
                <a:spcPts val="1200"/>
              </a:spcAft>
              <a:defRPr sz="2800" b="1">
                <a:solidFill>
                  <a:srgbClr val="1D3349"/>
                </a:solidFill>
                <a:latin typeface="Arial"/>
              </a:defRPr>
            </a:pPr>
            <a:r>
              <a:t>Test design targets the critical invariants</a:t>
            </a:r>
          </a:p>
        </p:txBody>
      </p:sp>
      <p:sp>
        <p:nvSpPr>
          <p:cNvPr id="5" name="TextBox 4"/>
          <p:cNvSpPr txBox="1"/>
          <p:nvPr/>
        </p:nvSpPr>
        <p:spPr>
          <a:xfrm>
            <a:off x="411480" y="6519672"/>
            <a:ext cx="10058400" cy="182880"/>
          </a:xfrm>
          <a:prstGeom prst="rect">
            <a:avLst/>
          </a:prstGeom>
          <a:noFill/>
        </p:spPr>
        <p:txBody>
          <a:bodyPr wrap="square" lIns="27432" rIns="27432" tIns="18288" bIns="18288">
            <a:spAutoFit/>
          </a:bodyPr>
          <a:lstStyle/>
          <a:p>
            <a:pPr>
              <a:spcAft>
                <a:spcPts val="1200"/>
              </a:spcAft>
              <a:defRPr sz="900" b="0">
                <a:solidFill>
                  <a:srgbClr val="5B6B7B"/>
                </a:solidFill>
                <a:latin typeface="Arial"/>
              </a:defRPr>
            </a:pPr>
            <a:r>
              <a:t>DroneOps Intelligence · FA26SE238 | Review 2 draft · 19 Oct 2026</a:t>
            </a:r>
          </a:p>
        </p:txBody>
      </p:sp>
      <p:sp>
        <p:nvSpPr>
          <p:cNvPr id="6" name="TextBox 5"/>
          <p:cNvSpPr txBox="1"/>
          <p:nvPr/>
        </p:nvSpPr>
        <p:spPr>
          <a:xfrm>
            <a:off x="11155680" y="6492240"/>
            <a:ext cx="548640" cy="228600"/>
          </a:xfrm>
          <a:prstGeom prst="rect">
            <a:avLst/>
          </a:prstGeom>
          <a:noFill/>
        </p:spPr>
        <p:txBody>
          <a:bodyPr wrap="square" lIns="27432" rIns="27432" tIns="18288" bIns="18288">
            <a:spAutoFit/>
          </a:bodyPr>
          <a:lstStyle/>
          <a:p>
            <a:pPr>
              <a:spcAft>
                <a:spcPts val="1200"/>
              </a:spcAft>
              <a:defRPr sz="1000" b="0">
                <a:solidFill>
                  <a:srgbClr val="5B6B7B"/>
                </a:solidFill>
                <a:latin typeface="Arial"/>
              </a:defRPr>
            </a:pPr>
            <a:r>
              <a:t>10</a:t>
            </a:r>
          </a:p>
        </p:txBody>
      </p:sp>
      <p:sp>
        <p:nvSpPr>
          <p:cNvPr id="7" name="Rounded Rectangle 6"/>
          <p:cNvSpPr/>
          <p:nvPr/>
        </p:nvSpPr>
        <p:spPr>
          <a:xfrm>
            <a:off x="548640" y="1645920"/>
            <a:ext cx="5303520" cy="1783080"/>
          </a:xfrm>
          <a:prstGeom prst="roundRect">
            <a:avLst/>
          </a:prstGeom>
          <a:solidFill>
            <a:srgbClr val="FFFFFF"/>
          </a:solidFill>
          <a:ln>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792224"/>
            <a:ext cx="4974336" cy="365760"/>
          </a:xfrm>
          <a:prstGeom prst="rect">
            <a:avLst/>
          </a:prstGeom>
          <a:noFill/>
        </p:spPr>
        <p:txBody>
          <a:bodyPr wrap="square" lIns="27432" rIns="27432" tIns="18288" bIns="18288">
            <a:spAutoFit/>
          </a:bodyPr>
          <a:lstStyle/>
          <a:p>
            <a:pPr>
              <a:spcAft>
                <a:spcPts val="1200"/>
              </a:spcAft>
              <a:defRPr sz="1900" b="1">
                <a:solidFill>
                  <a:srgbClr val="247C9C"/>
                </a:solidFill>
                <a:latin typeface="Arial"/>
              </a:defRPr>
            </a:pPr>
            <a:r>
              <a:t>Mission invariants</a:t>
            </a:r>
          </a:p>
        </p:txBody>
      </p:sp>
      <p:sp>
        <p:nvSpPr>
          <p:cNvPr id="9" name="TextBox 8"/>
          <p:cNvSpPr txBox="1"/>
          <p:nvPr/>
        </p:nvSpPr>
        <p:spPr>
          <a:xfrm>
            <a:off x="713232" y="2267712"/>
            <a:ext cx="4974336" cy="1088136"/>
          </a:xfrm>
          <a:prstGeom prst="rect">
            <a:avLst/>
          </a:prstGeom>
          <a:noFill/>
        </p:spPr>
        <p:txBody>
          <a:bodyPr wrap="square" lIns="27432" rIns="27432" tIns="18288" bIns="18288">
            <a:spAutoFit/>
          </a:bodyPr>
          <a:lstStyle/>
          <a:p>
            <a:pPr>
              <a:spcAft>
                <a:spcPts val="1200"/>
              </a:spcAft>
              <a:defRPr sz="1700" b="0">
                <a:solidFill>
                  <a:srgbClr val="1D3349"/>
                </a:solidFill>
                <a:latin typeface="Arial"/>
              </a:defRPr>
            </a:pPr>
            <a:r>
              <a:t>Reject preserves current data; approve applies atomically; stale evidence blocks.</a:t>
            </a:r>
          </a:p>
        </p:txBody>
      </p:sp>
      <p:sp>
        <p:nvSpPr>
          <p:cNvPr id="10" name="Rounded Rectangle 9"/>
          <p:cNvSpPr/>
          <p:nvPr/>
        </p:nvSpPr>
        <p:spPr>
          <a:xfrm>
            <a:off x="6309360" y="1645920"/>
            <a:ext cx="5303520" cy="1783080"/>
          </a:xfrm>
          <a:prstGeom prst="roundRect">
            <a:avLst/>
          </a:prstGeom>
          <a:solidFill>
            <a:srgbClr val="FFFFFF"/>
          </a:solidFill>
          <a:ln>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1792224"/>
            <a:ext cx="4974336" cy="365760"/>
          </a:xfrm>
          <a:prstGeom prst="rect">
            <a:avLst/>
          </a:prstGeom>
          <a:noFill/>
        </p:spPr>
        <p:txBody>
          <a:bodyPr wrap="square" lIns="27432" rIns="27432" tIns="18288" bIns="18288">
            <a:spAutoFit/>
          </a:bodyPr>
          <a:lstStyle/>
          <a:p>
            <a:pPr>
              <a:spcAft>
                <a:spcPts val="1200"/>
              </a:spcAft>
              <a:defRPr sz="1900" b="1">
                <a:solidFill>
                  <a:srgbClr val="247C9C"/>
                </a:solidFill>
                <a:latin typeface="Arial"/>
              </a:defRPr>
            </a:pPr>
            <a:r>
              <a:t>Realtime reliability</a:t>
            </a:r>
          </a:p>
        </p:txBody>
      </p:sp>
      <p:sp>
        <p:nvSpPr>
          <p:cNvPr id="12" name="TextBox 11"/>
          <p:cNvSpPr txBox="1"/>
          <p:nvPr/>
        </p:nvSpPr>
        <p:spPr>
          <a:xfrm>
            <a:off x="6473952" y="2267712"/>
            <a:ext cx="4974336" cy="1088136"/>
          </a:xfrm>
          <a:prstGeom prst="rect">
            <a:avLst/>
          </a:prstGeom>
          <a:noFill/>
        </p:spPr>
        <p:txBody>
          <a:bodyPr wrap="square" lIns="27432" rIns="27432" tIns="18288" bIns="18288">
            <a:spAutoFit/>
          </a:bodyPr>
          <a:lstStyle/>
          <a:p>
            <a:pPr>
              <a:spcAft>
                <a:spcPts val="1200"/>
              </a:spcAft>
              <a:defRPr sz="1700" b="0">
                <a:solidFill>
                  <a:srgbClr val="1D3349"/>
                </a:solidFill>
                <a:latin typeface="Arial"/>
              </a:defRPr>
            </a:pPr>
            <a:r>
              <a:t>Out-of-order/replay, null metrics, no-packet timeout and reconnect.</a:t>
            </a:r>
          </a:p>
        </p:txBody>
      </p:sp>
      <p:sp>
        <p:nvSpPr>
          <p:cNvPr id="13" name="TextBox 12"/>
          <p:cNvSpPr txBox="1"/>
          <p:nvPr/>
        </p:nvSpPr>
        <p:spPr>
          <a:xfrm>
            <a:off x="685800" y="3931920"/>
            <a:ext cx="10789920" cy="1737360"/>
          </a:xfrm>
          <a:prstGeom prst="rect">
            <a:avLst/>
          </a:prstGeom>
          <a:noFill/>
        </p:spPr>
        <p:txBody>
          <a:bodyPr wrap="square" lIns="27432" rIns="27432" tIns="18288" bIns="18288">
            <a:spAutoFit/>
          </a:bodyPr>
          <a:lstStyle/>
          <a:p>
            <a:pPr>
              <a:spcAft>
                <a:spcPts val="1200"/>
              </a:spcAft>
              <a:defRPr sz="2100" b="0">
                <a:solidFill>
                  <a:srgbClr val="1D3349"/>
                </a:solidFill>
                <a:latin typeface="Arial"/>
              </a:defRPr>
            </a:pPr>
            <a:r>
              <a:t>40 planned integration/system cases + 10 unit designs</a:t>
            </a:r>
          </a:p>
          <a:p>
            <a:pPr>
              <a:spcAft>
                <a:spcPts val="1200"/>
              </a:spcAft>
              <a:defRPr sz="2100" b="0">
                <a:solidFill>
                  <a:srgbClr val="1D3349"/>
                </a:solidFill>
                <a:latin typeface="Arial"/>
              </a:defRPr>
            </a:pPr>
            <a:r>
              <a:t>All Pending — capture tagged build, fixtures, logs and actual results.</a:t>
            </a:r>
          </a:p>
          <a:p>
            <a:pPr>
              <a:spcAft>
                <a:spcPts val="1200"/>
              </a:spcAft>
              <a:defRPr sz="2100" b="0">
                <a:solidFill>
                  <a:srgbClr val="1D3349"/>
                </a:solidFill>
                <a:latin typeface="Arial"/>
              </a:defRPr>
            </a:pPr>
            <a:r>
              <a:t>CI: .NET build / analyzers / offline checks; FE lint / types / tests / build.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47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0972800" cy="320040"/>
          </a:xfrm>
          <a:prstGeom prst="rect">
            <a:avLst/>
          </a:prstGeom>
          <a:noFill/>
        </p:spPr>
        <p:txBody>
          <a:bodyPr wrap="square" lIns="27432" rIns="27432" tIns="18288" bIns="18288">
            <a:spAutoFit/>
          </a:bodyPr>
          <a:lstStyle/>
          <a:p>
            <a:pPr>
              <a:spcAft>
                <a:spcPts val="1200"/>
              </a:spcAft>
              <a:defRPr sz="1100" b="1">
                <a:solidFill>
                  <a:srgbClr val="247C9C"/>
                </a:solidFill>
                <a:latin typeface="Arial"/>
              </a:defRPr>
            </a:pPr>
            <a:r>
              <a:t>DEMO PREPARATION</a:t>
            </a:r>
          </a:p>
        </p:txBody>
      </p:sp>
      <p:sp>
        <p:nvSpPr>
          <p:cNvPr id="4" name="TextBox 3"/>
          <p:cNvSpPr txBox="1"/>
          <p:nvPr/>
        </p:nvSpPr>
        <p:spPr>
          <a:xfrm>
            <a:off x="411480" y="713232"/>
            <a:ext cx="11247120" cy="640080"/>
          </a:xfrm>
          <a:prstGeom prst="rect">
            <a:avLst/>
          </a:prstGeom>
          <a:noFill/>
        </p:spPr>
        <p:txBody>
          <a:bodyPr wrap="square" lIns="27432" rIns="27432" tIns="18288" bIns="18288">
            <a:spAutoFit/>
          </a:bodyPr>
          <a:lstStyle/>
          <a:p>
            <a:pPr>
              <a:spcAft>
                <a:spcPts val="1200"/>
              </a:spcAft>
              <a:defRPr sz="2800" b="1">
                <a:solidFill>
                  <a:srgbClr val="1D3349"/>
                </a:solidFill>
                <a:latin typeface="Arial"/>
              </a:defRPr>
            </a:pPr>
            <a:r>
              <a:t>Workflow demonstration sequence</a:t>
            </a:r>
          </a:p>
        </p:txBody>
      </p:sp>
      <p:sp>
        <p:nvSpPr>
          <p:cNvPr id="5" name="TextBox 4"/>
          <p:cNvSpPr txBox="1"/>
          <p:nvPr/>
        </p:nvSpPr>
        <p:spPr>
          <a:xfrm>
            <a:off x="411480" y="6519672"/>
            <a:ext cx="10058400" cy="182880"/>
          </a:xfrm>
          <a:prstGeom prst="rect">
            <a:avLst/>
          </a:prstGeom>
          <a:noFill/>
        </p:spPr>
        <p:txBody>
          <a:bodyPr wrap="square" lIns="27432" rIns="27432" tIns="18288" bIns="18288">
            <a:spAutoFit/>
          </a:bodyPr>
          <a:lstStyle/>
          <a:p>
            <a:pPr>
              <a:spcAft>
                <a:spcPts val="1200"/>
              </a:spcAft>
              <a:defRPr sz="900" b="0">
                <a:solidFill>
                  <a:srgbClr val="5B6B7B"/>
                </a:solidFill>
                <a:latin typeface="Arial"/>
              </a:defRPr>
            </a:pPr>
            <a:r>
              <a:t>DroneOps Intelligence · FA26SE238 | Review 2 draft · 19 Oct 2026</a:t>
            </a:r>
          </a:p>
        </p:txBody>
      </p:sp>
      <p:sp>
        <p:nvSpPr>
          <p:cNvPr id="6" name="TextBox 5"/>
          <p:cNvSpPr txBox="1"/>
          <p:nvPr/>
        </p:nvSpPr>
        <p:spPr>
          <a:xfrm>
            <a:off x="11155680" y="6492240"/>
            <a:ext cx="548640" cy="228600"/>
          </a:xfrm>
          <a:prstGeom prst="rect">
            <a:avLst/>
          </a:prstGeom>
          <a:noFill/>
        </p:spPr>
        <p:txBody>
          <a:bodyPr wrap="square" lIns="27432" rIns="27432" tIns="18288" bIns="18288">
            <a:spAutoFit/>
          </a:bodyPr>
          <a:lstStyle/>
          <a:p>
            <a:pPr>
              <a:spcAft>
                <a:spcPts val="1200"/>
              </a:spcAft>
              <a:defRPr sz="1000" b="0">
                <a:solidFill>
                  <a:srgbClr val="5B6B7B"/>
                </a:solidFill>
                <a:latin typeface="Arial"/>
              </a:defRPr>
            </a:pPr>
            <a:r>
              <a:t>11</a:t>
            </a:r>
          </a:p>
        </p:txBody>
      </p:sp>
      <p:sp>
        <p:nvSpPr>
          <p:cNvPr id="7" name="TextBox 6"/>
          <p:cNvSpPr txBox="1"/>
          <p:nvPr/>
        </p:nvSpPr>
        <p:spPr>
          <a:xfrm>
            <a:off x="731520" y="1783080"/>
            <a:ext cx="10607040" cy="4206240"/>
          </a:xfrm>
          <a:prstGeom prst="rect">
            <a:avLst/>
          </a:prstGeom>
          <a:noFill/>
        </p:spPr>
        <p:txBody>
          <a:bodyPr wrap="square" lIns="27432" rIns="27432" tIns="18288" bIns="18288">
            <a:spAutoFit/>
          </a:bodyPr>
          <a:lstStyle/>
          <a:p>
            <a:pPr>
              <a:spcAft>
                <a:spcPts val="1200"/>
              </a:spcAft>
              <a:defRPr sz="2400" b="0">
                <a:solidFill>
                  <a:srgbClr val="1D3349"/>
                </a:solidFill>
                <a:latin typeface="Arial"/>
              </a:defRPr>
            </a:pPr>
            <a:r>
              <a:t>1. Create a mission and submit it for pre-flight validation.</a:t>
            </a:r>
          </a:p>
          <a:p>
            <a:pPr>
              <a:spcAft>
                <a:spcPts val="1200"/>
              </a:spcAft>
              <a:defRPr sz="2400" b="0">
                <a:solidFill>
                  <a:srgbClr val="1D3349"/>
                </a:solidFill>
                <a:latin typeface="Arial"/>
              </a:defRPr>
            </a:pPr>
            <a:r>
              <a:t>2. Reject an update and verify the approved content is preserved.</a:t>
            </a:r>
          </a:p>
          <a:p>
            <a:pPr>
              <a:spcAft>
                <a:spcPts val="1200"/>
              </a:spcAft>
              <a:defRPr sz="2400" b="0">
                <a:solidFill>
                  <a:srgbClr val="1D3349"/>
                </a:solidFill>
                <a:latin typeface="Arial"/>
              </a:defRPr>
            </a:pPr>
            <a:r>
              <a:t>3. Approve an update and verify the current mission changes.</a:t>
            </a:r>
          </a:p>
          <a:p>
            <a:pPr>
              <a:spcAft>
                <a:spcPts val="1200"/>
              </a:spcAft>
              <a:defRPr sz="2400" b="0">
                <a:solidFill>
                  <a:srgbClr val="1D3349"/>
                </a:solidFill>
                <a:latin typeface="Arial"/>
              </a:defRPr>
            </a:pPr>
            <a:r>
              <a:t>4. Monitor telemetry and inspect incident evidence.</a:t>
            </a:r>
          </a:p>
          <a:p>
            <a:pPr>
              <a:spcAft>
                <a:spcPts val="1200"/>
              </a:spcAft>
              <a:defRPr sz="2400" b="0">
                <a:solidFill>
                  <a:srgbClr val="1D3349"/>
                </a:solidFill>
                <a:latin typeface="Arial"/>
              </a:defRPr>
            </a:pPr>
            <a:r>
              <a:t>5. Review the post-flight report and AI assessment.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47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0972800" cy="320040"/>
          </a:xfrm>
          <a:prstGeom prst="rect">
            <a:avLst/>
          </a:prstGeom>
          <a:noFill/>
        </p:spPr>
        <p:txBody>
          <a:bodyPr wrap="square" lIns="27432" rIns="27432" tIns="18288" bIns="18288">
            <a:spAutoFit/>
          </a:bodyPr>
          <a:lstStyle/>
          <a:p>
            <a:pPr>
              <a:spcAft>
                <a:spcPts val="1200"/>
              </a:spcAft>
              <a:defRPr sz="1100" b="1">
                <a:solidFill>
                  <a:srgbClr val="247C9C"/>
                </a:solidFill>
                <a:latin typeface="Arial"/>
              </a:defRPr>
            </a:pPr>
            <a:r>
              <a:t>REVIEW CLOSURE</a:t>
            </a:r>
          </a:p>
        </p:txBody>
      </p:sp>
      <p:sp>
        <p:nvSpPr>
          <p:cNvPr id="4" name="TextBox 3"/>
          <p:cNvSpPr txBox="1"/>
          <p:nvPr/>
        </p:nvSpPr>
        <p:spPr>
          <a:xfrm>
            <a:off x="411480" y="713232"/>
            <a:ext cx="11247120" cy="640080"/>
          </a:xfrm>
          <a:prstGeom prst="rect">
            <a:avLst/>
          </a:prstGeom>
          <a:noFill/>
        </p:spPr>
        <p:txBody>
          <a:bodyPr wrap="square" lIns="27432" rIns="27432" tIns="18288" bIns="18288">
            <a:spAutoFit/>
          </a:bodyPr>
          <a:lstStyle/>
          <a:p>
            <a:pPr>
              <a:spcAft>
                <a:spcPts val="1200"/>
              </a:spcAft>
              <a:defRPr sz="2800" b="1">
                <a:solidFill>
                  <a:srgbClr val="1D3349"/>
                </a:solidFill>
                <a:latin typeface="Arial"/>
              </a:defRPr>
            </a:pPr>
            <a:r>
              <a:t>Decisions and next actions for Review 2</a:t>
            </a:r>
          </a:p>
        </p:txBody>
      </p:sp>
      <p:sp>
        <p:nvSpPr>
          <p:cNvPr id="5" name="TextBox 4"/>
          <p:cNvSpPr txBox="1"/>
          <p:nvPr/>
        </p:nvSpPr>
        <p:spPr>
          <a:xfrm>
            <a:off x="411480" y="6519672"/>
            <a:ext cx="10058400" cy="182880"/>
          </a:xfrm>
          <a:prstGeom prst="rect">
            <a:avLst/>
          </a:prstGeom>
          <a:noFill/>
        </p:spPr>
        <p:txBody>
          <a:bodyPr wrap="square" lIns="27432" rIns="27432" tIns="18288" bIns="18288">
            <a:spAutoFit/>
          </a:bodyPr>
          <a:lstStyle/>
          <a:p>
            <a:pPr>
              <a:spcAft>
                <a:spcPts val="1200"/>
              </a:spcAft>
              <a:defRPr sz="900" b="0">
                <a:solidFill>
                  <a:srgbClr val="5B6B7B"/>
                </a:solidFill>
                <a:latin typeface="Arial"/>
              </a:defRPr>
            </a:pPr>
            <a:r>
              <a:t>DroneOps Intelligence · FA26SE238 | Review 2 draft · 19 Oct 2026</a:t>
            </a:r>
          </a:p>
        </p:txBody>
      </p:sp>
      <p:sp>
        <p:nvSpPr>
          <p:cNvPr id="6" name="TextBox 5"/>
          <p:cNvSpPr txBox="1"/>
          <p:nvPr/>
        </p:nvSpPr>
        <p:spPr>
          <a:xfrm>
            <a:off x="11155680" y="6492240"/>
            <a:ext cx="548640" cy="228600"/>
          </a:xfrm>
          <a:prstGeom prst="rect">
            <a:avLst/>
          </a:prstGeom>
          <a:noFill/>
        </p:spPr>
        <p:txBody>
          <a:bodyPr wrap="square" lIns="27432" rIns="27432" tIns="18288" bIns="18288">
            <a:spAutoFit/>
          </a:bodyPr>
          <a:lstStyle/>
          <a:p>
            <a:pPr>
              <a:spcAft>
                <a:spcPts val="1200"/>
              </a:spcAft>
              <a:defRPr sz="1000" b="0">
                <a:solidFill>
                  <a:srgbClr val="5B6B7B"/>
                </a:solidFill>
                <a:latin typeface="Arial"/>
              </a:defRPr>
            </a:pPr>
            <a:r>
              <a:t>12</a:t>
            </a:r>
          </a:p>
        </p:txBody>
      </p:sp>
      <p:sp>
        <p:nvSpPr>
          <p:cNvPr id="7" name="TextBox 6"/>
          <p:cNvSpPr txBox="1"/>
          <p:nvPr/>
        </p:nvSpPr>
        <p:spPr>
          <a:xfrm>
            <a:off x="731520" y="1737360"/>
            <a:ext cx="10607040" cy="4389120"/>
          </a:xfrm>
          <a:prstGeom prst="rect">
            <a:avLst/>
          </a:prstGeom>
          <a:noFill/>
        </p:spPr>
        <p:txBody>
          <a:bodyPr wrap="square" lIns="27432" rIns="27432" tIns="18288" bIns="18288">
            <a:spAutoFit/>
          </a:bodyPr>
          <a:lstStyle/>
          <a:p>
            <a:pPr>
              <a:spcAft>
                <a:spcPts val="1200"/>
              </a:spcAft>
              <a:defRPr sz="2400" b="0">
                <a:solidFill>
                  <a:srgbClr val="1D3349"/>
                </a:solidFill>
                <a:latin typeface="Arial"/>
              </a:defRPr>
            </a:pPr>
            <a:r>
              <a:t>Agree the mission update and review rules.</a:t>
            </a:r>
          </a:p>
          <a:p>
            <a:pPr>
              <a:spcAft>
                <a:spcPts val="1200"/>
              </a:spcAft>
              <a:defRPr sz="2400" b="0">
                <a:solidFill>
                  <a:srgbClr val="1D3349"/>
                </a:solidFill>
                <a:latin typeface="Arial"/>
              </a:defRPr>
            </a:pPr>
            <a:r>
              <a:t>Validate geometry, altitude references and boundary handling.</a:t>
            </a:r>
          </a:p>
          <a:p>
            <a:pPr>
              <a:spcAft>
                <a:spcPts val="1200"/>
              </a:spcAft>
              <a:defRPr sz="2400" b="0">
                <a:solidFill>
                  <a:srgbClr val="1D3349"/>
                </a:solidFill>
                <a:latin typeface="Arial"/>
              </a:defRPr>
            </a:pPr>
            <a:r>
              <a:t>Complete gateway, monitoring and incident integration.</a:t>
            </a:r>
          </a:p>
          <a:p>
            <a:pPr>
              <a:spcAft>
                <a:spcPts val="1200"/>
              </a:spcAft>
              <a:defRPr sz="2400" b="0">
                <a:solidFill>
                  <a:srgbClr val="1D3349"/>
                </a:solidFill>
                <a:latin typeface="Arial"/>
              </a:defRPr>
            </a:pPr>
            <a:r>
              <a:t>Execute test cases and record measurable results.</a:t>
            </a:r>
          </a:p>
          <a:p>
            <a:pPr>
              <a:spcAft>
                <a:spcPts val="1200"/>
              </a:spcAft>
              <a:defRPr sz="2400" b="0">
                <a:solidFill>
                  <a:srgbClr val="1D3349"/>
                </a:solidFill>
                <a:latin typeface="Arial"/>
              </a:defRPr>
            </a:pPr>
            <a:r>
              <a:t>Review database migrations and deployment configuration.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